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9A84C"/>
          </a:solidFill>
          <a:ln/>
        </p:spPr>
      </p:sp>
      <p:sp>
        <p:nvSpPr>
          <p:cNvPr id="3" name="Text 1"/>
          <p:cNvSpPr/>
          <p:nvPr/>
        </p:nvSpPr>
        <p:spPr>
          <a:xfrm>
            <a:off x="731520" y="914400"/>
            <a:ext cx="7680960" cy="1645920"/>
          </a:xfrm>
          <a:prstGeom prst="rect">
            <a:avLst/>
          </a:prstGeom>
          <a:noFill/>
          <a:ln/>
        </p:spPr>
        <p:txBody>
          <a:bodyPr wrap="square" lIns="0" tIns="0" rIns="0" bIns="0" rtlCol="0" anchor="ctr"/>
          <a:lstStyle/>
          <a:p>
            <a:pPr algn="l" indent="0" marL="0">
              <a:buNone/>
            </a:pPr>
            <a:r>
              <a:rPr lang="en-US" sz="4000" b="1" dirty="0">
                <a:solidFill>
                  <a:srgbClr val="C9A84C"/>
                </a:solidFill>
                <a:latin typeface="Arial" pitchFamily="34" charset="0"/>
                <a:ea typeface="Arial" pitchFamily="34" charset="-122"/>
                <a:cs typeface="Arial" pitchFamily="34" charset="-120"/>
              </a:rPr>
              <a:t>MOUNT BREVITOR</a:t>
            </a:r>
            <a:endParaRPr lang="en-US" sz="4000" dirty="0"/>
          </a:p>
          <a:p>
            <a:pPr algn="l" indent="0" marL="0">
              <a:buNone/>
            </a:pPr>
            <a:r>
              <a:rPr lang="en-US" sz="4000" b="1" dirty="0">
                <a:solidFill>
                  <a:srgbClr val="C9A84C"/>
                </a:solidFill>
                <a:latin typeface="Arial" pitchFamily="34" charset="0"/>
                <a:ea typeface="Arial" pitchFamily="34" charset="-122"/>
                <a:cs typeface="Arial" pitchFamily="34" charset="-120"/>
              </a:rPr>
              <a:t>ESTATE DEVELOPMENT</a:t>
            </a:r>
            <a:endParaRPr lang="en-US" sz="4000" dirty="0"/>
          </a:p>
        </p:txBody>
      </p:sp>
      <p:sp>
        <p:nvSpPr>
          <p:cNvPr id="4" name="Shape 2"/>
          <p:cNvSpPr/>
          <p:nvPr/>
        </p:nvSpPr>
        <p:spPr>
          <a:xfrm>
            <a:off x="731520" y="2651760"/>
            <a:ext cx="3200400" cy="0"/>
          </a:xfrm>
          <a:prstGeom prst="line">
            <a:avLst/>
          </a:prstGeom>
          <a:noFill/>
          <a:ln w="19050">
            <a:solidFill>
              <a:srgbClr val="C9A84C"/>
            </a:solidFill>
            <a:prstDash val="solid"/>
          </a:ln>
        </p:spPr>
      </p:sp>
      <p:sp>
        <p:nvSpPr>
          <p:cNvPr id="5" name="Text 3"/>
          <p:cNvSpPr/>
          <p:nvPr/>
        </p:nvSpPr>
        <p:spPr>
          <a:xfrm>
            <a:off x="731520" y="2880360"/>
            <a:ext cx="7315200" cy="3200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120-Acre Mixed-Use Estate  |  St. Peter, Barbados</a:t>
            </a:r>
            <a:endParaRPr lang="en-US" sz="1400" dirty="0"/>
          </a:p>
        </p:txBody>
      </p:sp>
      <p:sp>
        <p:nvSpPr>
          <p:cNvPr id="6" name="Text 4"/>
          <p:cNvSpPr/>
          <p:nvPr/>
        </p:nvSpPr>
        <p:spPr>
          <a:xfrm>
            <a:off x="731520" y="3200400"/>
            <a:ext cx="7315200" cy="274320"/>
          </a:xfrm>
          <a:prstGeom prst="rect">
            <a:avLst/>
          </a:prstGeom>
          <a:noFill/>
          <a:ln/>
        </p:spPr>
        <p:txBody>
          <a:bodyPr wrap="square" lIns="0" tIns="0" rIns="0" bIns="0" rtlCol="0" anchor="ctr"/>
          <a:lstStyle/>
          <a:p>
            <a:pPr indent="0" marL="0">
              <a:buNone/>
            </a:pPr>
            <a:r>
              <a:rPr lang="en-US" sz="1200" dirty="0">
                <a:solidFill>
                  <a:srgbClr val="AAAAAA"/>
                </a:solidFill>
                <a:latin typeface="Arial" pitchFamily="34" charset="0"/>
                <a:ea typeface="Arial" pitchFamily="34" charset="-122"/>
                <a:cs typeface="Arial" pitchFamily="34" charset="-120"/>
              </a:rPr>
              <a:t>Residential  |  Agri-Estate  |  Golf Entertainment  |  Green Infrastructure</a:t>
            </a:r>
            <a:endParaRPr lang="en-US" sz="1200" dirty="0"/>
          </a:p>
        </p:txBody>
      </p:sp>
      <p:sp>
        <p:nvSpPr>
          <p:cNvPr id="7" name="Text 5"/>
          <p:cNvSpPr/>
          <p:nvPr/>
        </p:nvSpPr>
        <p:spPr>
          <a:xfrm>
            <a:off x="731520" y="3749040"/>
            <a:ext cx="4572000" cy="320040"/>
          </a:xfrm>
          <a:prstGeom prst="rect">
            <a:avLst/>
          </a:prstGeom>
          <a:noFill/>
          <a:ln/>
        </p:spPr>
        <p:txBody>
          <a:bodyPr wrap="square" lIns="0" tIns="0" rIns="0" bIns="0" rtlCol="0" anchor="ctr"/>
          <a:lstStyle/>
          <a:p>
            <a:pPr indent="0" marL="0">
              <a:buNone/>
            </a:pPr>
            <a:r>
              <a:rPr lang="en-US" sz="1600" b="1" dirty="0">
                <a:solidFill>
                  <a:srgbClr val="C9A84C"/>
                </a:solidFill>
                <a:latin typeface="Arial" pitchFamily="34" charset="0"/>
                <a:ea typeface="Arial" pitchFamily="34" charset="-122"/>
                <a:cs typeface="Arial" pitchFamily="34" charset="-120"/>
              </a:rPr>
              <a:t>INVESTOR PRESENTATION</a:t>
            </a:r>
            <a:endParaRPr lang="en-US" sz="1600" dirty="0"/>
          </a:p>
        </p:txBody>
      </p:sp>
      <p:sp>
        <p:nvSpPr>
          <p:cNvPr id="8" name="Text 6"/>
          <p:cNvSpPr/>
          <p:nvPr/>
        </p:nvSpPr>
        <p:spPr>
          <a:xfrm>
            <a:off x="731520" y="4069080"/>
            <a:ext cx="4572000" cy="228600"/>
          </a:xfrm>
          <a:prstGeom prst="rect">
            <a:avLst/>
          </a:prstGeom>
          <a:noFill/>
          <a:ln/>
        </p:spPr>
        <p:txBody>
          <a:bodyPr wrap="square" lIns="0" tIns="0" rIns="0" bIns="0" rtlCol="0" anchor="ctr"/>
          <a:lstStyle/>
          <a:p>
            <a:pPr indent="0" marL="0">
              <a:buNone/>
            </a:pPr>
            <a:r>
              <a:rPr lang="en-US" sz="900" dirty="0">
                <a:solidFill>
                  <a:srgbClr val="AAAAAA"/>
                </a:solidFill>
                <a:latin typeface="Arial" pitchFamily="34" charset="0"/>
                <a:ea typeface="Arial" pitchFamily="34" charset="-122"/>
                <a:cs typeface="Arial" pitchFamily="34" charset="-120"/>
              </a:rPr>
              <a:t>Version 3.0  |  March 2025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2</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EXECUTIVE SUMMARY</a:t>
            </a:r>
            <a:endParaRPr lang="en-US" sz="2600" dirty="0"/>
          </a:p>
        </p:txBody>
      </p:sp>
      <p:sp>
        <p:nvSpPr>
          <p:cNvPr id="6" name="Shape 4"/>
          <p:cNvSpPr/>
          <p:nvPr/>
        </p:nvSpPr>
        <p:spPr>
          <a:xfrm>
            <a:off x="548640" y="960120"/>
            <a:ext cx="1828800" cy="777240"/>
          </a:xfrm>
          <a:prstGeom prst="rect">
            <a:avLst/>
          </a:prstGeom>
          <a:solidFill>
            <a:srgbClr val="12121F"/>
          </a:solidFill>
          <a:ln w="6350">
            <a:solidFill>
              <a:srgbClr val="2A2A40"/>
            </a:solidFill>
            <a:prstDash val="solid"/>
          </a:ln>
        </p:spPr>
      </p:sp>
      <p:sp>
        <p:nvSpPr>
          <p:cNvPr id="7" name="Text 5"/>
          <p:cNvSpPr/>
          <p:nvPr/>
        </p:nvSpPr>
        <p:spPr>
          <a:xfrm>
            <a:off x="548640" y="1005840"/>
            <a:ext cx="182880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Arial" pitchFamily="34" charset="0"/>
                <a:ea typeface="Arial" pitchFamily="34" charset="-122"/>
                <a:cs typeface="Arial" pitchFamily="34" charset="-120"/>
              </a:rPr>
              <a:t>BBD 265M</a:t>
            </a:r>
            <a:endParaRPr lang="en-US" sz="2200" dirty="0"/>
          </a:p>
        </p:txBody>
      </p:sp>
      <p:sp>
        <p:nvSpPr>
          <p:cNvPr id="8" name="Text 6"/>
          <p:cNvSpPr/>
          <p:nvPr/>
        </p:nvSpPr>
        <p:spPr>
          <a:xfrm>
            <a:off x="548640" y="1417320"/>
            <a:ext cx="1828800" cy="274320"/>
          </a:xfrm>
          <a:prstGeom prst="rect">
            <a:avLst/>
          </a:prstGeom>
          <a:noFill/>
          <a:ln/>
        </p:spPr>
        <p:txBody>
          <a:bodyPr wrap="square" lIns="0" tIns="0" rIns="0" bIns="0" rtlCol="0" anchor="ctr"/>
          <a:lstStyle/>
          <a:p>
            <a:pPr algn="ctr" indent="0" marL="0">
              <a:buNone/>
            </a:pPr>
            <a:r>
              <a:rPr lang="en-US" sz="800" dirty="0">
                <a:solidFill>
                  <a:srgbClr val="AAAAAA"/>
                </a:solidFill>
                <a:latin typeface="Arial" pitchFamily="34" charset="0"/>
                <a:ea typeface="Arial" pitchFamily="34" charset="-122"/>
                <a:cs typeface="Arial" pitchFamily="34" charset="-120"/>
              </a:rPr>
              <a:t>Gross Development Value</a:t>
            </a:r>
            <a:endParaRPr lang="en-US" sz="800" dirty="0"/>
          </a:p>
        </p:txBody>
      </p:sp>
      <p:sp>
        <p:nvSpPr>
          <p:cNvPr id="9" name="Shape 7"/>
          <p:cNvSpPr/>
          <p:nvPr/>
        </p:nvSpPr>
        <p:spPr>
          <a:xfrm>
            <a:off x="2514600" y="960120"/>
            <a:ext cx="1828800" cy="777240"/>
          </a:xfrm>
          <a:prstGeom prst="rect">
            <a:avLst/>
          </a:prstGeom>
          <a:solidFill>
            <a:srgbClr val="12121F"/>
          </a:solidFill>
          <a:ln w="6350">
            <a:solidFill>
              <a:srgbClr val="2A2A40"/>
            </a:solidFill>
            <a:prstDash val="solid"/>
          </a:ln>
        </p:spPr>
      </p:sp>
      <p:sp>
        <p:nvSpPr>
          <p:cNvPr id="10" name="Text 8"/>
          <p:cNvSpPr/>
          <p:nvPr/>
        </p:nvSpPr>
        <p:spPr>
          <a:xfrm>
            <a:off x="2514600" y="1005840"/>
            <a:ext cx="182880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Arial" pitchFamily="34" charset="0"/>
                <a:ea typeface="Arial" pitchFamily="34" charset="-122"/>
                <a:cs typeface="Arial" pitchFamily="34" charset="-120"/>
              </a:rPr>
              <a:t>355</a:t>
            </a:r>
            <a:endParaRPr lang="en-US" sz="2200" dirty="0"/>
          </a:p>
        </p:txBody>
      </p:sp>
      <p:sp>
        <p:nvSpPr>
          <p:cNvPr id="11" name="Text 9"/>
          <p:cNvSpPr/>
          <p:nvPr/>
        </p:nvSpPr>
        <p:spPr>
          <a:xfrm>
            <a:off x="2514600" y="1417320"/>
            <a:ext cx="1828800" cy="274320"/>
          </a:xfrm>
          <a:prstGeom prst="rect">
            <a:avLst/>
          </a:prstGeom>
          <a:noFill/>
          <a:ln/>
        </p:spPr>
        <p:txBody>
          <a:bodyPr wrap="square" lIns="0" tIns="0" rIns="0" bIns="0" rtlCol="0" anchor="ctr"/>
          <a:lstStyle/>
          <a:p>
            <a:pPr algn="ctr" indent="0" marL="0">
              <a:buNone/>
            </a:pPr>
            <a:r>
              <a:rPr lang="en-US" sz="800" dirty="0">
                <a:solidFill>
                  <a:srgbClr val="AAAAAA"/>
                </a:solidFill>
                <a:latin typeface="Arial" pitchFamily="34" charset="0"/>
                <a:ea typeface="Arial" pitchFamily="34" charset="-122"/>
                <a:cs typeface="Arial" pitchFamily="34" charset="-120"/>
              </a:rPr>
              <a:t>Residential Units</a:t>
            </a:r>
            <a:endParaRPr lang="en-US" sz="800" dirty="0"/>
          </a:p>
        </p:txBody>
      </p:sp>
      <p:sp>
        <p:nvSpPr>
          <p:cNvPr id="12" name="Shape 10"/>
          <p:cNvSpPr/>
          <p:nvPr/>
        </p:nvSpPr>
        <p:spPr>
          <a:xfrm>
            <a:off x="4480560" y="960120"/>
            <a:ext cx="1828800" cy="777240"/>
          </a:xfrm>
          <a:prstGeom prst="rect">
            <a:avLst/>
          </a:prstGeom>
          <a:solidFill>
            <a:srgbClr val="12121F"/>
          </a:solidFill>
          <a:ln w="6350">
            <a:solidFill>
              <a:srgbClr val="2A2A40"/>
            </a:solidFill>
            <a:prstDash val="solid"/>
          </a:ln>
        </p:spPr>
      </p:sp>
      <p:sp>
        <p:nvSpPr>
          <p:cNvPr id="13" name="Text 11"/>
          <p:cNvSpPr/>
          <p:nvPr/>
        </p:nvSpPr>
        <p:spPr>
          <a:xfrm>
            <a:off x="4480560" y="1005840"/>
            <a:ext cx="182880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Arial" pitchFamily="34" charset="0"/>
                <a:ea typeface="Arial" pitchFamily="34" charset="-122"/>
                <a:cs typeface="Arial" pitchFamily="34" charset="-120"/>
              </a:rPr>
              <a:t>132.6 ac</a:t>
            </a:r>
            <a:endParaRPr lang="en-US" sz="2200" dirty="0"/>
          </a:p>
        </p:txBody>
      </p:sp>
      <p:sp>
        <p:nvSpPr>
          <p:cNvPr id="14" name="Text 12"/>
          <p:cNvSpPr/>
          <p:nvPr/>
        </p:nvSpPr>
        <p:spPr>
          <a:xfrm>
            <a:off x="4480560" y="1417320"/>
            <a:ext cx="1828800" cy="274320"/>
          </a:xfrm>
          <a:prstGeom prst="rect">
            <a:avLst/>
          </a:prstGeom>
          <a:noFill/>
          <a:ln/>
        </p:spPr>
        <p:txBody>
          <a:bodyPr wrap="square" lIns="0" tIns="0" rIns="0" bIns="0" rtlCol="0" anchor="ctr"/>
          <a:lstStyle/>
          <a:p>
            <a:pPr algn="ctr" indent="0" marL="0">
              <a:buNone/>
            </a:pPr>
            <a:r>
              <a:rPr lang="en-US" sz="800" dirty="0">
                <a:solidFill>
                  <a:srgbClr val="AAAAAA"/>
                </a:solidFill>
                <a:latin typeface="Arial" pitchFamily="34" charset="0"/>
                <a:ea typeface="Arial" pitchFamily="34" charset="-122"/>
                <a:cs typeface="Arial" pitchFamily="34" charset="-120"/>
              </a:rPr>
              <a:t>Total Site Area</a:t>
            </a:r>
            <a:endParaRPr lang="en-US" sz="800" dirty="0"/>
          </a:p>
        </p:txBody>
      </p:sp>
      <p:sp>
        <p:nvSpPr>
          <p:cNvPr id="15" name="Shape 13"/>
          <p:cNvSpPr/>
          <p:nvPr/>
        </p:nvSpPr>
        <p:spPr>
          <a:xfrm>
            <a:off x="6446520" y="960120"/>
            <a:ext cx="1828800" cy="777240"/>
          </a:xfrm>
          <a:prstGeom prst="rect">
            <a:avLst/>
          </a:prstGeom>
          <a:solidFill>
            <a:srgbClr val="12121F"/>
          </a:solidFill>
          <a:ln w="6350">
            <a:solidFill>
              <a:srgbClr val="2A2A40"/>
            </a:solidFill>
            <a:prstDash val="solid"/>
          </a:ln>
        </p:spPr>
      </p:sp>
      <p:sp>
        <p:nvSpPr>
          <p:cNvPr id="16" name="Text 14"/>
          <p:cNvSpPr/>
          <p:nvPr/>
        </p:nvSpPr>
        <p:spPr>
          <a:xfrm>
            <a:off x="6446520" y="1005840"/>
            <a:ext cx="182880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Arial" pitchFamily="34" charset="0"/>
                <a:ea typeface="Arial" pitchFamily="34" charset="-122"/>
                <a:cs typeface="Arial" pitchFamily="34" charset="-120"/>
              </a:rPr>
              <a:t>USD 57M</a:t>
            </a:r>
            <a:endParaRPr lang="en-US" sz="2200" dirty="0"/>
          </a:p>
        </p:txBody>
      </p:sp>
      <p:sp>
        <p:nvSpPr>
          <p:cNvPr id="17" name="Text 15"/>
          <p:cNvSpPr/>
          <p:nvPr/>
        </p:nvSpPr>
        <p:spPr>
          <a:xfrm>
            <a:off x="6446520" y="1417320"/>
            <a:ext cx="1828800" cy="274320"/>
          </a:xfrm>
          <a:prstGeom prst="rect">
            <a:avLst/>
          </a:prstGeom>
          <a:noFill/>
          <a:ln/>
        </p:spPr>
        <p:txBody>
          <a:bodyPr wrap="square" lIns="0" tIns="0" rIns="0" bIns="0" rtlCol="0" anchor="ctr"/>
          <a:lstStyle/>
          <a:p>
            <a:pPr algn="ctr" indent="0" marL="0">
              <a:buNone/>
            </a:pPr>
            <a:r>
              <a:rPr lang="en-US" sz="800" dirty="0">
                <a:solidFill>
                  <a:srgbClr val="AAAAAA"/>
                </a:solidFill>
                <a:latin typeface="Arial" pitchFamily="34" charset="0"/>
                <a:ea typeface="Arial" pitchFamily="34" charset="-122"/>
                <a:cs typeface="Arial" pitchFamily="34" charset="-120"/>
              </a:rPr>
              <a:t>Financing Sought</a:t>
            </a:r>
            <a:endParaRPr lang="en-US" sz="800" dirty="0"/>
          </a:p>
        </p:txBody>
      </p:sp>
      <p:sp>
        <p:nvSpPr>
          <p:cNvPr id="18" name="Text 16"/>
          <p:cNvSpPr/>
          <p:nvPr/>
        </p:nvSpPr>
        <p:spPr>
          <a:xfrm>
            <a:off x="548640" y="1965960"/>
            <a:ext cx="8046720" cy="2560320"/>
          </a:xfrm>
          <a:prstGeom prst="rect">
            <a:avLst/>
          </a:prstGeom>
          <a:noFill/>
          <a:ln/>
        </p:spPr>
        <p:txBody>
          <a:bodyPr wrap="square" rtlCol="0" anchor="t"/>
          <a:lstStyle/>
          <a:p>
            <a:pPr marL="342900" indent="-342900">
              <a:spcAft>
                <a:spcPts val="600"/>
              </a:spcAft>
              <a:buSzPct val="100000"/>
              <a:buChar char="•"/>
            </a:pPr>
            <a:r>
              <a:rPr lang="en-US" sz="1100" dirty="0">
                <a:solidFill>
                  <a:srgbClr val="FFFFFF"/>
                </a:solidFill>
                <a:latin typeface="Arial" pitchFamily="34" charset="0"/>
                <a:ea typeface="Arial" pitchFamily="34" charset="-122"/>
                <a:cs typeface="Arial" pitchFamily="34" charset="-120"/>
              </a:rPr>
              <a:t>120-acre mixed-use estate in St. Peter, Barbados combining residential, working farm, branded golf entertainment (X Range), and green infrastructure</a:t>
            </a:r>
            <a:endParaRPr lang="en-US" sz="1100" dirty="0"/>
          </a:p>
          <a:p>
            <a:pPr marL="342900" indent="-342900">
              <a:spcAft>
                <a:spcPts val="600"/>
              </a:spcAft>
              <a:buSzPct val="100000"/>
              <a:buChar char="•"/>
            </a:pPr>
            <a:r>
              <a:rPr lang="en-US" sz="1100" dirty="0">
                <a:solidFill>
                  <a:srgbClr val="FFFFFF"/>
                </a:solidFill>
                <a:latin typeface="Arial" pitchFamily="34" charset="0"/>
                <a:ea typeface="Arial" pitchFamily="34" charset="-122"/>
                <a:cs typeface="Arial" pitchFamily="34" charset="-120"/>
              </a:rPr>
              <a:t>Addresses structural housing deficit of 10,000+ units; targets BBD 440K-1.43M price range across 355 units in four phases (2025-2028)</a:t>
            </a:r>
            <a:endParaRPr lang="en-US" sz="1100" dirty="0"/>
          </a:p>
          <a:p>
            <a:pPr marL="342900" indent="-342900">
              <a:spcAft>
                <a:spcPts val="600"/>
              </a:spcAft>
              <a:buSzPct val="100000"/>
              <a:buChar char="•"/>
            </a:pPr>
            <a:r>
              <a:rPr lang="en-US" sz="1100" dirty="0">
                <a:solidFill>
                  <a:srgbClr val="FFFFFF"/>
                </a:solidFill>
                <a:latin typeface="Arial" pitchFamily="34" charset="0"/>
                <a:ea typeface="Arial" pitchFamily="34" charset="-122"/>
                <a:cs typeface="Arial" pitchFamily="34" charset="-120"/>
              </a:rPr>
              <a:t>Total development cost BBD 228M (USD 114M) against GDV of BBD 265M; projected IRR 18-25% (unlevered), 1.16x profit on cost</a:t>
            </a:r>
            <a:endParaRPr lang="en-US" sz="1100" dirty="0"/>
          </a:p>
          <a:p>
            <a:pPr marL="342900" indent="-342900">
              <a:spcAft>
                <a:spcPts val="600"/>
              </a:spcAft>
              <a:buSzPct val="100000"/>
              <a:buChar char="•"/>
            </a:pPr>
            <a:r>
              <a:rPr lang="en-US" sz="1100" dirty="0">
                <a:solidFill>
                  <a:srgbClr val="FFFFFF"/>
                </a:solidFill>
                <a:latin typeface="Arial" pitchFamily="34" charset="0"/>
                <a:ea typeface="Arial" pitchFamily="34" charset="-122"/>
                <a:cs typeface="Arial" pitchFamily="34" charset="-120"/>
              </a:rPr>
              <a:t>No direct competitor in Barbados offers an integrated estate with farm, golf, and green energy; nearest comparables (Apes Hill, Vuemont) address different segments</a:t>
            </a:r>
            <a:endParaRPr lang="en-US" sz="1100" dirty="0"/>
          </a:p>
          <a:p>
            <a:pPr marL="342900" indent="-342900">
              <a:spcAft>
                <a:spcPts val="600"/>
              </a:spcAft>
              <a:buSzPct val="100000"/>
              <a:buChar char="•"/>
            </a:pPr>
            <a:r>
              <a:rPr lang="en-US" sz="1100" dirty="0">
                <a:solidFill>
                  <a:srgbClr val="FFFFFF"/>
                </a:solidFill>
                <a:latin typeface="Arial" pitchFamily="34" charset="0"/>
                <a:ea typeface="Arial" pitchFamily="34" charset="-122"/>
                <a:cs typeface="Arial" pitchFamily="34" charset="-120"/>
              </a:rPr>
              <a:t>Potential eligibility for Tourism Development Act and Special Development Areas Act concessions; SPV structure recommended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3</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THE OPPORTUNITY</a:t>
            </a:r>
            <a:endParaRPr lang="en-US" sz="2600" dirty="0"/>
          </a:p>
        </p:txBody>
      </p:sp>
      <p:sp>
        <p:nvSpPr>
          <p:cNvPr id="6" name="Text 4"/>
          <p:cNvSpPr/>
          <p:nvPr/>
        </p:nvSpPr>
        <p:spPr>
          <a:xfrm>
            <a:off x="548640" y="1005840"/>
            <a:ext cx="3840480" cy="320040"/>
          </a:xfrm>
          <a:prstGeom prst="rect">
            <a:avLst/>
          </a:prstGeom>
          <a:noFill/>
          <a:ln/>
        </p:spPr>
        <p:txBody>
          <a:bodyPr wrap="square" lIns="0" tIns="0" rIns="0" bIns="0" rtlCol="0" anchor="ctr"/>
          <a:lstStyle/>
          <a:p>
            <a:pPr indent="0" marL="0">
              <a:buNone/>
            </a:pPr>
            <a:r>
              <a:rPr lang="en-US" sz="1600" b="1" dirty="0">
                <a:solidFill>
                  <a:srgbClr val="C9A84C"/>
                </a:solidFill>
                <a:latin typeface="Arial" pitchFamily="34" charset="0"/>
                <a:ea typeface="Arial" pitchFamily="34" charset="-122"/>
                <a:cs typeface="Arial" pitchFamily="34" charset="-120"/>
              </a:rPr>
              <a:t>Why Barbados, Why Now</a:t>
            </a:r>
            <a:endParaRPr lang="en-US" sz="1600" dirty="0"/>
          </a:p>
        </p:txBody>
      </p:sp>
      <p:sp>
        <p:nvSpPr>
          <p:cNvPr id="7" name="Text 5"/>
          <p:cNvSpPr/>
          <p:nvPr/>
        </p:nvSpPr>
        <p:spPr>
          <a:xfrm>
            <a:off x="548640" y="1417320"/>
            <a:ext cx="3840480" cy="2560320"/>
          </a:xfrm>
          <a:prstGeom prst="rect">
            <a:avLst/>
          </a:prstGeom>
          <a:noFill/>
          <a:ln/>
        </p:spPr>
        <p:txBody>
          <a:bodyPr wrap="square" rtlCol="0" anchor="t"/>
          <a:lstStyle/>
          <a:p>
            <a:pPr marL="342900" indent="-342900">
              <a:spcAft>
                <a:spcPts val="800"/>
              </a:spcAft>
              <a:buSzPct val="100000"/>
              <a:buChar char="•"/>
            </a:pPr>
            <a:r>
              <a:rPr lang="en-US" sz="1100" dirty="0">
                <a:solidFill>
                  <a:srgbClr val="FFFFFF"/>
                </a:solidFill>
                <a:latin typeface="Arial" pitchFamily="34" charset="0"/>
                <a:ea typeface="Arial" pitchFamily="34" charset="-122"/>
                <a:cs typeface="Arial" pitchFamily="34" charset="-120"/>
              </a:rPr>
              <a:t>Structural housing deficit: 10,000+ unit shortfall with government prioritising housing development</a:t>
            </a:r>
            <a:endParaRPr lang="en-US" sz="1100" dirty="0"/>
          </a:p>
          <a:p>
            <a:pPr marL="342900" indent="-342900">
              <a:spcAft>
                <a:spcPts val="800"/>
              </a:spcAft>
              <a:buSzPct val="100000"/>
              <a:buChar char="•"/>
            </a:pPr>
            <a:r>
              <a:rPr lang="en-US" sz="1100" dirty="0">
                <a:solidFill>
                  <a:srgbClr val="FFFFFF"/>
                </a:solidFill>
                <a:latin typeface="Arial" pitchFamily="34" charset="0"/>
                <a:ea typeface="Arial" pitchFamily="34" charset="-122"/>
                <a:cs typeface="Arial" pitchFamily="34" charset="-120"/>
              </a:rPr>
              <a:t>Tourism recovery: 503K arrivals Jan-Aug 2025; mortgage lending up 36% YoY in Q1 2024</a:t>
            </a:r>
            <a:endParaRPr lang="en-US" sz="1100" dirty="0"/>
          </a:p>
          <a:p>
            <a:pPr marL="342900" indent="-342900">
              <a:spcAft>
                <a:spcPts val="800"/>
              </a:spcAft>
              <a:buSzPct val="100000"/>
              <a:buChar char="•"/>
            </a:pPr>
            <a:r>
              <a:rPr lang="en-US" sz="1100" dirty="0">
                <a:solidFill>
                  <a:srgbClr val="FFFFFF"/>
                </a:solidFill>
                <a:latin typeface="Arial" pitchFamily="34" charset="0"/>
                <a:ea typeface="Arial" pitchFamily="34" charset="-122"/>
                <a:cs typeface="Arial" pitchFamily="34" charset="-120"/>
              </a:rPr>
              <a:t>Northern growth corridor: Speightstown revitalisation driving demand; St. Peter parish at 14% market share with 14% price growth YoY</a:t>
            </a:r>
            <a:endParaRPr lang="en-US" sz="1100" dirty="0"/>
          </a:p>
          <a:p>
            <a:pPr marL="342900" indent="-342900">
              <a:spcAft>
                <a:spcPts val="800"/>
              </a:spcAft>
              <a:buSzPct val="100000"/>
              <a:buChar char="•"/>
            </a:pPr>
            <a:r>
              <a:rPr lang="en-US" sz="1100" dirty="0">
                <a:solidFill>
                  <a:srgbClr val="FFFFFF"/>
                </a:solidFill>
                <a:latin typeface="Arial" pitchFamily="34" charset="0"/>
                <a:ea typeface="Arial" pitchFamily="34" charset="-122"/>
                <a:cs typeface="Arial" pitchFamily="34" charset="-120"/>
              </a:rPr>
              <a:t>Currency stability: BBD:USD peg at 2:1 eliminates FX risk for USD-denominated investors</a:t>
            </a:r>
            <a:endParaRPr lang="en-US" sz="1100" dirty="0"/>
          </a:p>
        </p:txBody>
      </p:sp>
      <p:sp>
        <p:nvSpPr>
          <p:cNvPr id="8" name="Text 6"/>
          <p:cNvSpPr/>
          <p:nvPr/>
        </p:nvSpPr>
        <p:spPr>
          <a:xfrm>
            <a:off x="4846320" y="1005840"/>
            <a:ext cx="3840480" cy="320040"/>
          </a:xfrm>
          <a:prstGeom prst="rect">
            <a:avLst/>
          </a:prstGeom>
          <a:noFill/>
          <a:ln/>
        </p:spPr>
        <p:txBody>
          <a:bodyPr wrap="square" lIns="0" tIns="0" rIns="0" bIns="0" rtlCol="0" anchor="ctr"/>
          <a:lstStyle/>
          <a:p>
            <a:pPr indent="0" marL="0">
              <a:buNone/>
            </a:pPr>
            <a:r>
              <a:rPr lang="en-US" sz="1600" b="1" dirty="0">
                <a:solidFill>
                  <a:srgbClr val="C9A84C"/>
                </a:solidFill>
                <a:latin typeface="Arial" pitchFamily="34" charset="0"/>
                <a:ea typeface="Arial" pitchFamily="34" charset="-122"/>
                <a:cs typeface="Arial" pitchFamily="34" charset="-120"/>
              </a:rPr>
              <a:t>Key Market Indicators</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846320" y="1463040"/>
          <a:ext cx="3840480" cy="914400"/>
        </p:xfrm>
        <a:graphic>
          <a:graphicData uri="http://schemas.openxmlformats.org/drawingml/2006/table">
            <a:tbl>
              <a:tblPr/>
              <a:tblGrid>
                <a:gridCol w="2377440"/>
                <a:gridCol w="1463040"/>
              </a:tblGrid>
              <a:tr h="29260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Indicator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Value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GDP Growth (2025)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2.7%</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Property Price Growth</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6.9% YoY</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Tourism Arrivals (Jan-Aug)</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503,000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Housing Deficit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10,000+ units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NPL Ratio</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5.0% (declining)</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Corporate Tax Rate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9%</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4</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SITE OVERVIEW</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8046720" cy="914400"/>
        </p:xfrm>
        <a:graphic>
          <a:graphicData uri="http://schemas.openxmlformats.org/drawingml/2006/table">
            <a:tbl>
              <a:tblPr/>
              <a:tblGrid>
                <a:gridCol w="2194560"/>
                <a:gridCol w="1280160"/>
                <a:gridCol w="2377440"/>
                <a:gridCol w="2194560"/>
              </a:tblGrid>
              <a:tr h="29260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Parcel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Gross Area</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Land Use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Acquisition Cost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Phase 1 (Lots 1C, 1D)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15.27 acres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Residential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USD 1,250,000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Stage 2 (Lots A-K) Land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94.82 acres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Mixed (see below)</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USD 3,375,000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Stage 2 Gully</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22.52 acres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Environmental buffer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Included above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Combined Total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132.61 acres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USD 4,625,000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7" name="Text 4"/>
          <p:cNvSpPr/>
          <p:nvPr/>
        </p:nvSpPr>
        <p:spPr>
          <a:xfrm>
            <a:off x="548640" y="2697480"/>
            <a:ext cx="4114800" cy="27432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Stage 2 Land Use Breakdown</a:t>
            </a:r>
            <a:endParaRPr lang="en-US" sz="14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48640" y="3063240"/>
          <a:ext cx="4114800" cy="914400"/>
        </p:xfrm>
        <a:graphic>
          <a:graphicData uri="http://schemas.openxmlformats.org/drawingml/2006/table">
            <a:tbl>
              <a:tblPr/>
              <a:tblGrid>
                <a:gridCol w="1828800"/>
                <a:gridCol w="1097280"/>
                <a:gridCol w="1188720"/>
              </a:tblGrid>
              <a:tr h="29260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Category</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Acres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 of Stage 2</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Residential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75.03</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63.9%</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Agricultural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17.04</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14.5%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Gully (non-buildable)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22.52</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19.2%</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Open Space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1.86</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1.6%</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Commercial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0.89</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0.8%</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9" name="Text 5"/>
          <p:cNvSpPr/>
          <p:nvPr/>
        </p:nvSpPr>
        <p:spPr>
          <a:xfrm>
            <a:off x="5029200" y="2697480"/>
            <a:ext cx="3657600" cy="27432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Key Attributes</a:t>
            </a:r>
            <a:endParaRPr lang="en-US" sz="1400" dirty="0"/>
          </a:p>
        </p:txBody>
      </p:sp>
      <p:sp>
        <p:nvSpPr>
          <p:cNvPr id="10" name="Text 6"/>
          <p:cNvSpPr/>
          <p:nvPr/>
        </p:nvSpPr>
        <p:spPr>
          <a:xfrm>
            <a:off x="5029200" y="3108960"/>
            <a:ext cx="3657600" cy="1371600"/>
          </a:xfrm>
          <a:prstGeom prst="rect">
            <a:avLst/>
          </a:prstGeom>
          <a:noFill/>
          <a:ln/>
        </p:spPr>
        <p:txBody>
          <a:bodyPr wrap="square" rtlCol="0" anchor="t"/>
          <a:lstStyle/>
          <a:p>
            <a:pPr marL="342900" indent="-3429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Located in St. Peter parish, northern Barbados</a:t>
            </a:r>
            <a:endParaRPr lang="en-US" sz="1000" dirty="0"/>
          </a:p>
          <a:p>
            <a:pPr marL="342900" indent="-3429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10 minutes from Holetown and Speightstown</a:t>
            </a:r>
            <a:endParaRPr lang="en-US" sz="1000" dirty="0"/>
          </a:p>
          <a:p>
            <a:pPr marL="342900" indent="-3429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Adjacent to existing Vuemont development</a:t>
            </a:r>
            <a:endParaRPr lang="en-US" sz="1000" dirty="0"/>
          </a:p>
          <a:p>
            <a:pPr marL="342900" indent="-3429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~110 developable acres (excl. 22.5ac gully)</a:t>
            </a:r>
            <a:endParaRPr lang="en-US" sz="1000" dirty="0"/>
          </a:p>
          <a:p>
            <a:pPr marL="342900" indent="-342900">
              <a:spcAft>
                <a:spcPts val="400"/>
              </a:spcAft>
              <a:buSzPct val="100000"/>
              <a:buChar char="•"/>
            </a:pPr>
            <a:r>
              <a:rPr lang="en-US" sz="1000" dirty="0">
                <a:solidFill>
                  <a:srgbClr val="FFFFFF"/>
                </a:solidFill>
                <a:latin typeface="Arial" pitchFamily="34" charset="0"/>
                <a:ea typeface="Arial" pitchFamily="34" charset="-122"/>
                <a:cs typeface="Arial" pitchFamily="34" charset="-120"/>
              </a:rPr>
              <a:t>Potential SDA boundary proximity (to confirm)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5</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DEVELOPMENT CONCEPT</a:t>
            </a:r>
            <a:endParaRPr lang="en-US" sz="2600" dirty="0"/>
          </a:p>
        </p:txBody>
      </p:sp>
      <p:sp>
        <p:nvSpPr>
          <p:cNvPr id="6" name="Text 4"/>
          <p:cNvSpPr/>
          <p:nvPr/>
        </p:nvSpPr>
        <p:spPr>
          <a:xfrm>
            <a:off x="548640" y="914400"/>
            <a:ext cx="8046720" cy="457200"/>
          </a:xfrm>
          <a:prstGeom prst="rect">
            <a:avLst/>
          </a:prstGeom>
          <a:noFill/>
          <a:ln/>
        </p:spPr>
        <p:txBody>
          <a:bodyPr wrap="square" lIns="0" tIns="0" rIns="0" bIns="0" rtlCol="0" anchor="ctr"/>
          <a:lstStyle/>
          <a:p>
            <a:pPr indent="0" marL="0">
              <a:buNone/>
            </a:pPr>
            <a:r>
              <a:rPr lang="en-US" sz="1100" dirty="0">
                <a:solidFill>
                  <a:srgbClr val="AAAAAA"/>
                </a:solidFill>
                <a:latin typeface="Arial" pitchFamily="34" charset="0"/>
                <a:ea typeface="Arial" pitchFamily="34" charset="-122"/>
                <a:cs typeface="Arial" pitchFamily="34" charset="-120"/>
              </a:rPr>
              <a:t>Four integrated pillars: residential living, working farm, branded golf entertainment (X Range), and green infrastructure. Each generates independent revenue while reinforcing estate identity.</a:t>
            </a:r>
            <a:endParaRPr lang="en-US" sz="1100" dirty="0"/>
          </a:p>
        </p:txBody>
      </p:sp>
      <p:sp>
        <p:nvSpPr>
          <p:cNvPr id="7" name="Text 5"/>
          <p:cNvSpPr/>
          <p:nvPr/>
        </p:nvSpPr>
        <p:spPr>
          <a:xfrm>
            <a:off x="548640" y="1508760"/>
            <a:ext cx="4572000" cy="27432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Residential Unit Mix (355 Units)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8046720" cy="914400"/>
        </p:xfrm>
        <a:graphic>
          <a:graphicData uri="http://schemas.openxmlformats.org/drawingml/2006/table">
            <a:tbl>
              <a:tblPr/>
              <a:tblGrid>
                <a:gridCol w="1645920"/>
                <a:gridCol w="731520"/>
                <a:gridCol w="1097280"/>
                <a:gridCol w="1371600"/>
                <a:gridCol w="1371600"/>
              </a:tblGrid>
              <a:tr h="29260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Type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Count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Size (sq ft)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Price (BBD)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Revenue (BBD)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1-Bed Condo</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80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550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440,000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35,200,000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2-Bed Townhouse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95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900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560,000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53,200,000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3-Bed Townhouse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85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1,100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623,700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53,014,500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4-Bed Home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1,600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880,000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48,400,000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5-Bed Estate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40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2,400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1,430,000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57,200,000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Total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355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247,014,500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9" name="Text 6"/>
          <p:cNvSpPr/>
          <p:nvPr/>
        </p:nvSpPr>
        <p:spPr>
          <a:xfrm>
            <a:off x="548640" y="3977640"/>
            <a:ext cx="3657600" cy="228600"/>
          </a:xfrm>
          <a:prstGeom prst="rect">
            <a:avLst/>
          </a:prstGeom>
          <a:noFill/>
          <a:ln/>
        </p:spPr>
        <p:txBody>
          <a:bodyPr wrap="square" lIns="0" tIns="0" rIns="0" bIns="0" rtlCol="0" anchor="ctr"/>
          <a:lstStyle/>
          <a:p>
            <a:pPr indent="0" marL="0">
              <a:buNone/>
            </a:pPr>
            <a:r>
              <a:rPr lang="en-US" sz="1200" b="1" dirty="0">
                <a:solidFill>
                  <a:srgbClr val="C9A84C"/>
                </a:solidFill>
                <a:latin typeface="Arial" pitchFamily="34" charset="0"/>
                <a:ea typeface="Arial" pitchFamily="34" charset="-122"/>
                <a:cs typeface="Arial" pitchFamily="34" charset="-120"/>
              </a:rPr>
              <a:t>Key Amenities</a:t>
            </a:r>
            <a:endParaRPr lang="en-US" sz="1200" dirty="0"/>
          </a:p>
        </p:txBody>
      </p:sp>
      <p:sp>
        <p:nvSpPr>
          <p:cNvPr id="10" name="Text 7"/>
          <p:cNvSpPr/>
          <p:nvPr/>
        </p:nvSpPr>
        <p:spPr>
          <a:xfrm>
            <a:off x="548640" y="4206240"/>
            <a:ext cx="8046720" cy="822960"/>
          </a:xfrm>
          <a:prstGeom prst="rect">
            <a:avLst/>
          </a:prstGeom>
          <a:noFill/>
          <a:ln/>
        </p:spPr>
        <p:txBody>
          <a:bodyPr wrap="square" rtlCol="0" anchor="t"/>
          <a:lstStyle/>
          <a:p>
            <a:pPr marL="342900" indent="-342900">
              <a:spcAft>
                <a:spcPts val="200"/>
              </a:spcAft>
              <a:buSzPct val="100000"/>
              <a:buChar char="•"/>
            </a:pPr>
            <a:r>
              <a:rPr lang="en-US" sz="1000" dirty="0">
                <a:solidFill>
                  <a:srgbClr val="FFFFFF"/>
                </a:solidFill>
                <a:latin typeface="Arial" pitchFamily="34" charset="0"/>
                <a:ea typeface="Arial" pitchFamily="34" charset="-122"/>
                <a:cs typeface="Arial" pitchFamily="34" charset="-120"/>
              </a:rPr>
              <a:t>X Range: 25-bay entertainment driving range + full-service bar/restaurant</a:t>
            </a:r>
            <a:endParaRPr lang="en-US" sz="1000" dirty="0"/>
          </a:p>
          <a:p>
            <a:pPr marL="342900" indent="-342900">
              <a:spcAft>
                <a:spcPts val="200"/>
              </a:spcAft>
              <a:buSzPct val="100000"/>
              <a:buChar char="•"/>
            </a:pPr>
            <a:r>
              <a:rPr lang="en-US" sz="1000" dirty="0">
                <a:solidFill>
                  <a:srgbClr val="FFFFFF"/>
                </a:solidFill>
                <a:latin typeface="Arial" pitchFamily="34" charset="0"/>
                <a:ea typeface="Arial" pitchFamily="34" charset="-122"/>
                <a:cs typeface="Arial" pitchFamily="34" charset="-120"/>
              </a:rPr>
              <a:t>Working farm: aquaponics, dairy, artisan production, farm shop</a:t>
            </a:r>
            <a:endParaRPr lang="en-US" sz="1000" dirty="0"/>
          </a:p>
          <a:p>
            <a:pPr marL="342900" indent="-342900">
              <a:spcAft>
                <a:spcPts val="200"/>
              </a:spcAft>
              <a:buSzPct val="100000"/>
              <a:buChar char="•"/>
            </a:pPr>
            <a:r>
              <a:rPr lang="en-US" sz="1000" dirty="0">
                <a:solidFill>
                  <a:srgbClr val="FFFFFF"/>
                </a:solidFill>
                <a:latin typeface="Arial" pitchFamily="34" charset="0"/>
                <a:ea typeface="Arial" pitchFamily="34" charset="-122"/>
                <a:cs typeface="Arial" pitchFamily="34" charset="-120"/>
              </a:rPr>
              <a:t>2-3 MW agrivoltaic solar, 500 kWh battery, on-site water treatment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6</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MARKET CONTEXT</a:t>
            </a:r>
            <a:endParaRPr lang="en-US" sz="2600" dirty="0"/>
          </a:p>
        </p:txBody>
      </p:sp>
      <p:sp>
        <p:nvSpPr>
          <p:cNvPr id="6" name="Text 4"/>
          <p:cNvSpPr/>
          <p:nvPr/>
        </p:nvSpPr>
        <p:spPr>
          <a:xfrm>
            <a:off x="548640" y="914400"/>
            <a:ext cx="4572000" cy="27432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Competitive Landscape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1645920"/>
                <a:gridCol w="1097280"/>
                <a:gridCol w="1828800"/>
                <a:gridCol w="3474720"/>
              </a:tblGrid>
              <a:tr h="29260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Development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Location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Price Range (BBD)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Key Feature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Mount Brevitor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St. Peter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440K - 1.43M</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Integrated estate: farm, golf, green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Vuemont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St. Peter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400K - 700K</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Residential community, adjacent site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Apes Hill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St. James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2M - 15M+</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Luxury golf estate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Royal Westmoreland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St. James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3M - 20M+</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Luxury resort community</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Coverly</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Ch. Church</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300K - 500K</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Government-backed affordable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8" name="Text 5"/>
          <p:cNvSpPr/>
          <p:nvPr/>
        </p:nvSpPr>
        <p:spPr>
          <a:xfrm>
            <a:off x="548640" y="3017520"/>
            <a:ext cx="3840480" cy="27432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Construction Cost Environment</a:t>
            </a:r>
            <a:endParaRPr lang="en-US" sz="1400" dirty="0"/>
          </a:p>
        </p:txBody>
      </p:sp>
      <p:sp>
        <p:nvSpPr>
          <p:cNvPr id="9" name="Text 6"/>
          <p:cNvSpPr/>
          <p:nvPr/>
        </p:nvSpPr>
        <p:spPr>
          <a:xfrm>
            <a:off x="548640" y="3337560"/>
            <a:ext cx="3840480" cy="1097280"/>
          </a:xfrm>
          <a:prstGeom prst="rect">
            <a:avLst/>
          </a:prstGeom>
          <a:noFill/>
          <a:ln/>
        </p:spPr>
        <p:txBody>
          <a:bodyPr wrap="square" rtlCol="0" anchor="t"/>
          <a:lstStyle/>
          <a:p>
            <a:pPr marL="342900" indent="-342900">
              <a:spcAft>
                <a:spcPts val="300"/>
              </a:spcAft>
              <a:buSzPct val="100000"/>
              <a:buChar char="•"/>
            </a:pPr>
            <a:r>
              <a:rPr lang="en-US" sz="1000" dirty="0">
                <a:solidFill>
                  <a:srgbClr val="FFFFFF"/>
                </a:solidFill>
                <a:latin typeface="Arial" pitchFamily="34" charset="0"/>
                <a:ea typeface="Arial" pitchFamily="34" charset="-122"/>
                <a:cs typeface="Arial" pitchFamily="34" charset="-120"/>
              </a:rPr>
              <a:t>BCQS 2025: BBD 255-800/sq ft residential</a:t>
            </a:r>
            <a:endParaRPr lang="en-US" sz="1000" dirty="0"/>
          </a:p>
          <a:p>
            <a:pPr marL="342900" indent="-342900">
              <a:spcAft>
                <a:spcPts val="300"/>
              </a:spcAft>
              <a:buSzPct val="100000"/>
              <a:buChar char="•"/>
            </a:pPr>
            <a:r>
              <a:rPr lang="en-US" sz="1000" dirty="0">
                <a:solidFill>
                  <a:srgbClr val="FFFFFF"/>
                </a:solidFill>
                <a:latin typeface="Arial" pitchFamily="34" charset="0"/>
                <a:ea typeface="Arial" pitchFamily="34" charset="-122"/>
                <a:cs typeface="Arial" pitchFamily="34" charset="-120"/>
              </a:rPr>
              <a:t>4.4% cost escalation (vs 7.25% regional avg)</a:t>
            </a:r>
            <a:endParaRPr lang="en-US" sz="1000" dirty="0"/>
          </a:p>
          <a:p>
            <a:pPr marL="342900" indent="-342900">
              <a:spcAft>
                <a:spcPts val="300"/>
              </a:spcAft>
              <a:buSzPct val="100000"/>
              <a:buChar char="•"/>
            </a:pPr>
            <a:r>
              <a:rPr lang="en-US" sz="1000" dirty="0">
                <a:solidFill>
                  <a:srgbClr val="FFFFFF"/>
                </a:solidFill>
                <a:latin typeface="Arial" pitchFamily="34" charset="0"/>
                <a:ea typeface="Arial" pitchFamily="34" charset="-122"/>
                <a:cs typeface="Arial" pitchFamily="34" charset="-120"/>
              </a:rPr>
              <a:t>Sand prices doubled (BBD 2,000/12m load)</a:t>
            </a:r>
            <a:endParaRPr lang="en-US" sz="1000" dirty="0"/>
          </a:p>
          <a:p>
            <a:pPr marL="342900" indent="-342900">
              <a:spcAft>
                <a:spcPts val="300"/>
              </a:spcAft>
              <a:buSzPct val="100000"/>
              <a:buChar char="•"/>
            </a:pPr>
            <a:r>
              <a:rPr lang="en-US" sz="1000" dirty="0">
                <a:solidFill>
                  <a:srgbClr val="FFFFFF"/>
                </a:solidFill>
                <a:latin typeface="Arial" pitchFamily="34" charset="0"/>
                <a:ea typeface="Arial" pitchFamily="34" charset="-122"/>
                <a:cs typeface="Arial" pitchFamily="34" charset="-120"/>
              </a:rPr>
              <a:t>Base case uses BBD 275-450/sq ft</a:t>
            </a:r>
            <a:endParaRPr lang="en-US" sz="1000" dirty="0"/>
          </a:p>
        </p:txBody>
      </p:sp>
      <p:sp>
        <p:nvSpPr>
          <p:cNvPr id="10" name="Text 7"/>
          <p:cNvSpPr/>
          <p:nvPr/>
        </p:nvSpPr>
        <p:spPr>
          <a:xfrm>
            <a:off x="4846320" y="3017520"/>
            <a:ext cx="3840480" cy="27432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Supply / Demand Summary</a:t>
            </a:r>
            <a:endParaRPr lang="en-US" sz="1400" dirty="0"/>
          </a:p>
        </p:txBody>
      </p:sp>
      <p:sp>
        <p:nvSpPr>
          <p:cNvPr id="11" name="Text 8"/>
          <p:cNvSpPr/>
          <p:nvPr/>
        </p:nvSpPr>
        <p:spPr>
          <a:xfrm>
            <a:off x="4846320" y="3337560"/>
            <a:ext cx="3840480" cy="1097280"/>
          </a:xfrm>
          <a:prstGeom prst="rect">
            <a:avLst/>
          </a:prstGeom>
          <a:noFill/>
          <a:ln/>
        </p:spPr>
        <p:txBody>
          <a:bodyPr wrap="square" rtlCol="0" anchor="t"/>
          <a:lstStyle/>
          <a:p>
            <a:pPr marL="342900" indent="-342900">
              <a:spcAft>
                <a:spcPts val="300"/>
              </a:spcAft>
              <a:buSzPct val="100000"/>
              <a:buChar char="•"/>
            </a:pPr>
            <a:r>
              <a:rPr lang="en-US" sz="1000" dirty="0">
                <a:solidFill>
                  <a:srgbClr val="FFFFFF"/>
                </a:solidFill>
                <a:latin typeface="Arial" pitchFamily="34" charset="0"/>
                <a:ea typeface="Arial" pitchFamily="34" charset="-122"/>
                <a:cs typeface="Arial" pitchFamily="34" charset="-120"/>
              </a:rPr>
              <a:t>10,000+ unit housing deficit (government est.)</a:t>
            </a:r>
            <a:endParaRPr lang="en-US" sz="1000" dirty="0"/>
          </a:p>
          <a:p>
            <a:pPr marL="342900" indent="-342900">
              <a:spcAft>
                <a:spcPts val="300"/>
              </a:spcAft>
              <a:buSzPct val="100000"/>
              <a:buChar char="•"/>
            </a:pPr>
            <a:r>
              <a:rPr lang="en-US" sz="1000" dirty="0">
                <a:solidFill>
                  <a:srgbClr val="FFFFFF"/>
                </a:solidFill>
                <a:latin typeface="Arial" pitchFamily="34" charset="0"/>
                <a:ea typeface="Arial" pitchFamily="34" charset="-122"/>
                <a:cs typeface="Arial" pitchFamily="34" charset="-120"/>
              </a:rPr>
              <a:t>St. Peter: 14% market share, 14% price growth</a:t>
            </a:r>
            <a:endParaRPr lang="en-US" sz="1000" dirty="0"/>
          </a:p>
          <a:p>
            <a:pPr marL="342900" indent="-342900">
              <a:spcAft>
                <a:spcPts val="300"/>
              </a:spcAft>
              <a:buSzPct val="100000"/>
              <a:buChar char="•"/>
            </a:pPr>
            <a:r>
              <a:rPr lang="en-US" sz="1000" dirty="0">
                <a:solidFill>
                  <a:srgbClr val="FFFFFF"/>
                </a:solidFill>
                <a:latin typeface="Arial" pitchFamily="34" charset="0"/>
                <a:ea typeface="Arial" pitchFamily="34" charset="-122"/>
                <a:cs typeface="Arial" pitchFamily="34" charset="-120"/>
              </a:rPr>
              <a:t>Mortgage lending +36% YoY in Q1 2024</a:t>
            </a:r>
            <a:endParaRPr lang="en-US" sz="1000" dirty="0"/>
          </a:p>
          <a:p>
            <a:pPr marL="342900" indent="-342900">
              <a:spcAft>
                <a:spcPts val="300"/>
              </a:spcAft>
              <a:buSzPct val="100000"/>
              <a:buChar char="•"/>
            </a:pPr>
            <a:r>
              <a:rPr lang="en-US" sz="1000" dirty="0">
                <a:solidFill>
                  <a:srgbClr val="FFFFFF"/>
                </a:solidFill>
                <a:latin typeface="Arial" pitchFamily="34" charset="0"/>
                <a:ea typeface="Arial" pitchFamily="34" charset="-122"/>
                <a:cs typeface="Arial" pitchFamily="34" charset="-120"/>
              </a:rPr>
              <a:t>Base case: 100-120 units/yr absorption</a:t>
            </a:r>
            <a:endParaRPr lang="en-US" sz="1000" dirty="0"/>
          </a:p>
        </p:txBody>
      </p:sp>
      <p:sp>
        <p:nvSpPr>
          <p:cNvPr id="12" name="Text 9"/>
          <p:cNvSpPr/>
          <p:nvPr/>
        </p:nvSpPr>
        <p:spPr>
          <a:xfrm>
            <a:off x="548640" y="4434840"/>
            <a:ext cx="7315200" cy="182880"/>
          </a:xfrm>
          <a:prstGeom prst="rect">
            <a:avLst/>
          </a:prstGeom>
          <a:noFill/>
          <a:ln/>
        </p:spPr>
        <p:txBody>
          <a:bodyPr wrap="square" rtlCol="0" anchor="ctr"/>
          <a:lstStyle/>
          <a:p>
            <a:pPr indent="0" marL="0">
              <a:buNone/>
            </a:pPr>
            <a:r>
              <a:rPr lang="en-US" sz="700" dirty="0">
                <a:solidFill>
                  <a:srgbClr val="888888"/>
                </a:solidFill>
                <a:latin typeface="Arial" pitchFamily="34" charset="0"/>
                <a:ea typeface="Arial" pitchFamily="34" charset="-122"/>
                <a:cs typeface="Arial" pitchFamily="34" charset="-120"/>
              </a:rPr>
              <a:t>Source: BCQS 2025 Caribbean Market Report; Central Bank of Barbados; Barbados Statistical Service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7</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PHASING STRATEGY</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8046720" cy="914400"/>
        </p:xfrm>
        <a:graphic>
          <a:graphicData uri="http://schemas.openxmlformats.org/drawingml/2006/table">
            <a:tbl>
              <a:tblPr/>
              <a:tblGrid>
                <a:gridCol w="1097280"/>
                <a:gridCol w="731520"/>
                <a:gridCol w="731520"/>
                <a:gridCol w="3200400"/>
                <a:gridCol w="1828800"/>
              </a:tblGrid>
              <a:tr h="29260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Phase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Year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Units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Key Activity</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Loan Draw (BBD)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Phase 1</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2025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Land acquisition, site prep, model home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18,000,000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Phase 2</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2026</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205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Main construction: water, sewage, 205 units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78,000,000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Phase 3</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2027</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110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Remaining resi, farm, commercial launch</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14,200,000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Phase 4</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ctr" indent="0" marL="0">
                        <a:buNone/>
                      </a:pPr>
                      <a:r>
                        <a:rPr lang="en-US" sz="1000" dirty="0">
                          <a:solidFill>
                            <a:srgbClr val="FFFFFF"/>
                          </a:solidFill>
                          <a:latin typeface="Arial" pitchFamily="34" charset="0"/>
                          <a:ea typeface="Arial" pitchFamily="34" charset="-122"/>
                          <a:cs typeface="Arial" pitchFamily="34" charset="-120"/>
                        </a:rPr>
                        <a:t>2028</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40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Upper-tier homes, completion, X Range open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3,800,000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Total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ctr" indent="0" marL="0">
                        <a:buNone/>
                      </a:pP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355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114,000,000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7" name="Shape 4"/>
          <p:cNvSpPr/>
          <p:nvPr/>
        </p:nvSpPr>
        <p:spPr>
          <a:xfrm>
            <a:off x="731520" y="3291840"/>
            <a:ext cx="1463040" cy="502920"/>
          </a:xfrm>
          <a:prstGeom prst="rect">
            <a:avLst/>
          </a:prstGeom>
          <a:solidFill>
            <a:srgbClr val="C9A84C"/>
          </a:solidFill>
          <a:ln/>
        </p:spPr>
      </p:sp>
      <p:sp>
        <p:nvSpPr>
          <p:cNvPr id="8" name="Text 5"/>
          <p:cNvSpPr/>
          <p:nvPr/>
        </p:nvSpPr>
        <p:spPr>
          <a:xfrm>
            <a:off x="731520" y="3319272"/>
            <a:ext cx="1463040" cy="228600"/>
          </a:xfrm>
          <a:prstGeom prst="rect">
            <a:avLst/>
          </a:prstGeom>
          <a:noFill/>
          <a:ln/>
        </p:spPr>
        <p:txBody>
          <a:bodyPr wrap="square" lIns="0" tIns="0" rIns="0" bIns="0" rtlCol="0" anchor="ctr"/>
          <a:lstStyle/>
          <a:p>
            <a:pPr algn="ctr" indent="0" marL="0">
              <a:buNone/>
            </a:pPr>
            <a:r>
              <a:rPr lang="en-US" sz="1000" b="1" dirty="0">
                <a:solidFill>
                  <a:srgbClr val="1A1A2E"/>
                </a:solidFill>
                <a:latin typeface="Arial" pitchFamily="34" charset="0"/>
                <a:ea typeface="Arial" pitchFamily="34" charset="-122"/>
                <a:cs typeface="Arial" pitchFamily="34" charset="-120"/>
              </a:rPr>
              <a:t>Phase 1</a:t>
            </a:r>
            <a:endParaRPr lang="en-US" sz="1000" dirty="0"/>
          </a:p>
        </p:txBody>
      </p:sp>
      <p:sp>
        <p:nvSpPr>
          <p:cNvPr id="9" name="Text 6"/>
          <p:cNvSpPr/>
          <p:nvPr/>
        </p:nvSpPr>
        <p:spPr>
          <a:xfrm>
            <a:off x="731520" y="3538728"/>
            <a:ext cx="1463040" cy="201168"/>
          </a:xfrm>
          <a:prstGeom prst="rect">
            <a:avLst/>
          </a:prstGeom>
          <a:noFill/>
          <a:ln/>
        </p:spPr>
        <p:txBody>
          <a:bodyPr wrap="square" lIns="0" tIns="0" rIns="0" bIns="0" rtlCol="0" anchor="ctr"/>
          <a:lstStyle/>
          <a:p>
            <a:pPr algn="ctr" indent="0" marL="0">
              <a:buNone/>
            </a:pPr>
            <a:r>
              <a:rPr lang="en-US" sz="900" dirty="0">
                <a:solidFill>
                  <a:srgbClr val="1A1A2E"/>
                </a:solidFill>
                <a:latin typeface="Arial" pitchFamily="34" charset="0"/>
                <a:ea typeface="Arial" pitchFamily="34" charset="-122"/>
                <a:cs typeface="Arial" pitchFamily="34" charset="-120"/>
              </a:rPr>
              <a:t>2025</a:t>
            </a:r>
            <a:endParaRPr lang="en-US" sz="900" dirty="0"/>
          </a:p>
        </p:txBody>
      </p:sp>
      <p:sp>
        <p:nvSpPr>
          <p:cNvPr id="10" name="Shape 7"/>
          <p:cNvSpPr/>
          <p:nvPr/>
        </p:nvSpPr>
        <p:spPr>
          <a:xfrm>
            <a:off x="2194560" y="3291840"/>
            <a:ext cx="2926080" cy="502920"/>
          </a:xfrm>
          <a:prstGeom prst="rect">
            <a:avLst/>
          </a:prstGeom>
          <a:solidFill>
            <a:srgbClr val="B8943E"/>
          </a:solidFill>
          <a:ln/>
        </p:spPr>
      </p:sp>
      <p:sp>
        <p:nvSpPr>
          <p:cNvPr id="11" name="Text 8"/>
          <p:cNvSpPr/>
          <p:nvPr/>
        </p:nvSpPr>
        <p:spPr>
          <a:xfrm>
            <a:off x="2194560" y="3319272"/>
            <a:ext cx="2926080" cy="228600"/>
          </a:xfrm>
          <a:prstGeom prst="rect">
            <a:avLst/>
          </a:prstGeom>
          <a:noFill/>
          <a:ln/>
        </p:spPr>
        <p:txBody>
          <a:bodyPr wrap="square" lIns="0" tIns="0" rIns="0" bIns="0" rtlCol="0" anchor="ctr"/>
          <a:lstStyle/>
          <a:p>
            <a:pPr algn="ctr" indent="0" marL="0">
              <a:buNone/>
            </a:pPr>
            <a:r>
              <a:rPr lang="en-US" sz="1000" b="1" dirty="0">
                <a:solidFill>
                  <a:srgbClr val="1A1A2E"/>
                </a:solidFill>
                <a:latin typeface="Arial" pitchFamily="34" charset="0"/>
                <a:ea typeface="Arial" pitchFamily="34" charset="-122"/>
                <a:cs typeface="Arial" pitchFamily="34" charset="-120"/>
              </a:rPr>
              <a:t>Phase 2</a:t>
            </a:r>
            <a:endParaRPr lang="en-US" sz="1000" dirty="0"/>
          </a:p>
        </p:txBody>
      </p:sp>
      <p:sp>
        <p:nvSpPr>
          <p:cNvPr id="12" name="Text 9"/>
          <p:cNvSpPr/>
          <p:nvPr/>
        </p:nvSpPr>
        <p:spPr>
          <a:xfrm>
            <a:off x="2194560" y="3538728"/>
            <a:ext cx="2926080" cy="201168"/>
          </a:xfrm>
          <a:prstGeom prst="rect">
            <a:avLst/>
          </a:prstGeom>
          <a:noFill/>
          <a:ln/>
        </p:spPr>
        <p:txBody>
          <a:bodyPr wrap="square" lIns="0" tIns="0" rIns="0" bIns="0" rtlCol="0" anchor="ctr"/>
          <a:lstStyle/>
          <a:p>
            <a:pPr algn="ctr" indent="0" marL="0">
              <a:buNone/>
            </a:pPr>
            <a:r>
              <a:rPr lang="en-US" sz="900" dirty="0">
                <a:solidFill>
                  <a:srgbClr val="1A1A2E"/>
                </a:solidFill>
                <a:latin typeface="Arial" pitchFamily="34" charset="0"/>
                <a:ea typeface="Arial" pitchFamily="34" charset="-122"/>
                <a:cs typeface="Arial" pitchFamily="34" charset="-120"/>
              </a:rPr>
              <a:t>2026</a:t>
            </a:r>
            <a:endParaRPr lang="en-US" sz="900" dirty="0"/>
          </a:p>
        </p:txBody>
      </p:sp>
      <p:sp>
        <p:nvSpPr>
          <p:cNvPr id="13" name="Shape 10"/>
          <p:cNvSpPr/>
          <p:nvPr/>
        </p:nvSpPr>
        <p:spPr>
          <a:xfrm>
            <a:off x="5120640" y="3291840"/>
            <a:ext cx="1828800" cy="502920"/>
          </a:xfrm>
          <a:prstGeom prst="rect">
            <a:avLst/>
          </a:prstGeom>
          <a:solidFill>
            <a:srgbClr val="9A7C33"/>
          </a:solidFill>
          <a:ln/>
        </p:spPr>
      </p:sp>
      <p:sp>
        <p:nvSpPr>
          <p:cNvPr id="14" name="Text 11"/>
          <p:cNvSpPr/>
          <p:nvPr/>
        </p:nvSpPr>
        <p:spPr>
          <a:xfrm>
            <a:off x="5120640" y="3319272"/>
            <a:ext cx="1828800" cy="228600"/>
          </a:xfrm>
          <a:prstGeom prst="rect">
            <a:avLst/>
          </a:prstGeom>
          <a:noFill/>
          <a:ln/>
        </p:spPr>
        <p:txBody>
          <a:bodyPr wrap="square" lIns="0" tIns="0" rIns="0" bIns="0" rtlCol="0" anchor="ctr"/>
          <a:lstStyle/>
          <a:p>
            <a:pPr algn="ctr" indent="0" marL="0">
              <a:buNone/>
            </a:pPr>
            <a:r>
              <a:rPr lang="en-US" sz="1000" b="1" dirty="0">
                <a:solidFill>
                  <a:srgbClr val="1A1A2E"/>
                </a:solidFill>
                <a:latin typeface="Arial" pitchFamily="34" charset="0"/>
                <a:ea typeface="Arial" pitchFamily="34" charset="-122"/>
                <a:cs typeface="Arial" pitchFamily="34" charset="-120"/>
              </a:rPr>
              <a:t>Phase 3</a:t>
            </a:r>
            <a:endParaRPr lang="en-US" sz="1000" dirty="0"/>
          </a:p>
        </p:txBody>
      </p:sp>
      <p:sp>
        <p:nvSpPr>
          <p:cNvPr id="15" name="Text 12"/>
          <p:cNvSpPr/>
          <p:nvPr/>
        </p:nvSpPr>
        <p:spPr>
          <a:xfrm>
            <a:off x="5120640" y="3538728"/>
            <a:ext cx="1828800" cy="201168"/>
          </a:xfrm>
          <a:prstGeom prst="rect">
            <a:avLst/>
          </a:prstGeom>
          <a:noFill/>
          <a:ln/>
        </p:spPr>
        <p:txBody>
          <a:bodyPr wrap="square" lIns="0" tIns="0" rIns="0" bIns="0" rtlCol="0" anchor="ctr"/>
          <a:lstStyle/>
          <a:p>
            <a:pPr algn="ctr" indent="0" marL="0">
              <a:buNone/>
            </a:pPr>
            <a:r>
              <a:rPr lang="en-US" sz="900" dirty="0">
                <a:solidFill>
                  <a:srgbClr val="1A1A2E"/>
                </a:solidFill>
                <a:latin typeface="Arial" pitchFamily="34" charset="0"/>
                <a:ea typeface="Arial" pitchFamily="34" charset="-122"/>
                <a:cs typeface="Arial" pitchFamily="34" charset="-120"/>
              </a:rPr>
              <a:t>2027</a:t>
            </a:r>
            <a:endParaRPr lang="en-US" sz="900" dirty="0"/>
          </a:p>
        </p:txBody>
      </p:sp>
      <p:sp>
        <p:nvSpPr>
          <p:cNvPr id="16" name="Shape 13"/>
          <p:cNvSpPr/>
          <p:nvPr/>
        </p:nvSpPr>
        <p:spPr>
          <a:xfrm>
            <a:off x="6949440" y="3291840"/>
            <a:ext cx="1463040" cy="502920"/>
          </a:xfrm>
          <a:prstGeom prst="rect">
            <a:avLst/>
          </a:prstGeom>
          <a:solidFill>
            <a:srgbClr val="7C6429"/>
          </a:solidFill>
          <a:ln/>
        </p:spPr>
      </p:sp>
      <p:sp>
        <p:nvSpPr>
          <p:cNvPr id="17" name="Text 14"/>
          <p:cNvSpPr/>
          <p:nvPr/>
        </p:nvSpPr>
        <p:spPr>
          <a:xfrm>
            <a:off x="6949440" y="3319272"/>
            <a:ext cx="1463040" cy="228600"/>
          </a:xfrm>
          <a:prstGeom prst="rect">
            <a:avLst/>
          </a:prstGeom>
          <a:noFill/>
          <a:ln/>
        </p:spPr>
        <p:txBody>
          <a:bodyPr wrap="square" lIns="0" tIns="0" rIns="0" bIns="0" rtlCol="0" anchor="ctr"/>
          <a:lstStyle/>
          <a:p>
            <a:pPr algn="ctr" indent="0" marL="0">
              <a:buNone/>
            </a:pPr>
            <a:r>
              <a:rPr lang="en-US" sz="1000" b="1" dirty="0">
                <a:solidFill>
                  <a:srgbClr val="1A1A2E"/>
                </a:solidFill>
                <a:latin typeface="Arial" pitchFamily="34" charset="0"/>
                <a:ea typeface="Arial" pitchFamily="34" charset="-122"/>
                <a:cs typeface="Arial" pitchFamily="34" charset="-120"/>
              </a:rPr>
              <a:t>Phase 4</a:t>
            </a:r>
            <a:endParaRPr lang="en-US" sz="1000" dirty="0"/>
          </a:p>
        </p:txBody>
      </p:sp>
      <p:sp>
        <p:nvSpPr>
          <p:cNvPr id="18" name="Text 15"/>
          <p:cNvSpPr/>
          <p:nvPr/>
        </p:nvSpPr>
        <p:spPr>
          <a:xfrm>
            <a:off x="6949440" y="3538728"/>
            <a:ext cx="1463040" cy="201168"/>
          </a:xfrm>
          <a:prstGeom prst="rect">
            <a:avLst/>
          </a:prstGeom>
          <a:noFill/>
          <a:ln/>
        </p:spPr>
        <p:txBody>
          <a:bodyPr wrap="square" lIns="0" tIns="0" rIns="0" bIns="0" rtlCol="0" anchor="ctr"/>
          <a:lstStyle/>
          <a:p>
            <a:pPr algn="ctr" indent="0" marL="0">
              <a:buNone/>
            </a:pPr>
            <a:r>
              <a:rPr lang="en-US" sz="900" dirty="0">
                <a:solidFill>
                  <a:srgbClr val="1A1A2E"/>
                </a:solidFill>
                <a:latin typeface="Arial" pitchFamily="34" charset="0"/>
                <a:ea typeface="Arial" pitchFamily="34" charset="-122"/>
                <a:cs typeface="Arial" pitchFamily="34" charset="-120"/>
              </a:rPr>
              <a:t>2028</a:t>
            </a:r>
            <a:endParaRPr lang="en-US" sz="900" dirty="0"/>
          </a:p>
        </p:txBody>
      </p:sp>
      <p:sp>
        <p:nvSpPr>
          <p:cNvPr id="19" name="Text 16"/>
          <p:cNvSpPr/>
          <p:nvPr/>
        </p:nvSpPr>
        <p:spPr>
          <a:xfrm>
            <a:off x="548640" y="4023360"/>
            <a:ext cx="8046720" cy="320040"/>
          </a:xfrm>
          <a:prstGeom prst="rect">
            <a:avLst/>
          </a:prstGeom>
          <a:noFill/>
          <a:ln/>
        </p:spPr>
        <p:txBody>
          <a:bodyPr wrap="square" lIns="0" tIns="0" rIns="0" bIns="0" rtlCol="0" anchor="ctr"/>
          <a:lstStyle/>
          <a:p>
            <a:pPr indent="0" marL="0">
              <a:buNone/>
            </a:pPr>
            <a:r>
              <a:rPr lang="en-US" sz="1100" dirty="0">
                <a:solidFill>
                  <a:srgbClr val="AAAAAA"/>
                </a:solidFill>
                <a:latin typeface="Arial" pitchFamily="34" charset="0"/>
                <a:ea typeface="Arial" pitchFamily="34" charset="-122"/>
                <a:cs typeface="Arial" pitchFamily="34" charset="-120"/>
              </a:rPr>
              <a:t>Peak capital deployment in 2026 (BBD 78M). Sales commence Phase 2. Loan repayments concentrated 2027-2028.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8</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FINANCIAL MODEL SUMMARY</a:t>
            </a:r>
            <a:endParaRPr lang="en-US" sz="2600" dirty="0"/>
          </a:p>
        </p:txBody>
      </p:sp>
      <p:sp>
        <p:nvSpPr>
          <p:cNvPr id="6" name="Shape 4"/>
          <p:cNvSpPr/>
          <p:nvPr/>
        </p:nvSpPr>
        <p:spPr>
          <a:xfrm>
            <a:off x="548640" y="914400"/>
            <a:ext cx="1828800" cy="777240"/>
          </a:xfrm>
          <a:prstGeom prst="rect">
            <a:avLst/>
          </a:prstGeom>
          <a:solidFill>
            <a:srgbClr val="12121F"/>
          </a:solidFill>
          <a:ln w="6350">
            <a:solidFill>
              <a:srgbClr val="2A2A40"/>
            </a:solidFill>
            <a:prstDash val="solid"/>
          </a:ln>
        </p:spPr>
      </p:sp>
      <p:sp>
        <p:nvSpPr>
          <p:cNvPr id="7" name="Text 5"/>
          <p:cNvSpPr/>
          <p:nvPr/>
        </p:nvSpPr>
        <p:spPr>
          <a:xfrm>
            <a:off x="548640" y="960120"/>
            <a:ext cx="182880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Arial" pitchFamily="34" charset="0"/>
                <a:ea typeface="Arial" pitchFamily="34" charset="-122"/>
                <a:cs typeface="Arial" pitchFamily="34" charset="-120"/>
              </a:rPr>
              <a:t>BBD 265M</a:t>
            </a:r>
            <a:endParaRPr lang="en-US" sz="2200" dirty="0"/>
          </a:p>
        </p:txBody>
      </p:sp>
      <p:sp>
        <p:nvSpPr>
          <p:cNvPr id="8" name="Text 6"/>
          <p:cNvSpPr/>
          <p:nvPr/>
        </p:nvSpPr>
        <p:spPr>
          <a:xfrm>
            <a:off x="548640" y="1371600"/>
            <a:ext cx="1828800" cy="274320"/>
          </a:xfrm>
          <a:prstGeom prst="rect">
            <a:avLst/>
          </a:prstGeom>
          <a:noFill/>
          <a:ln/>
        </p:spPr>
        <p:txBody>
          <a:bodyPr wrap="square" lIns="0" tIns="0" rIns="0" bIns="0" rtlCol="0" anchor="ctr"/>
          <a:lstStyle/>
          <a:p>
            <a:pPr algn="ctr" indent="0" marL="0">
              <a:buNone/>
            </a:pPr>
            <a:r>
              <a:rPr lang="en-US" sz="800" dirty="0">
                <a:solidFill>
                  <a:srgbClr val="AAAAAA"/>
                </a:solidFill>
                <a:latin typeface="Arial" pitchFamily="34" charset="0"/>
                <a:ea typeface="Arial" pitchFamily="34" charset="-122"/>
                <a:cs typeface="Arial" pitchFamily="34" charset="-120"/>
              </a:rPr>
              <a:t>GDV</a:t>
            </a:r>
            <a:endParaRPr lang="en-US" sz="800" dirty="0"/>
          </a:p>
        </p:txBody>
      </p:sp>
      <p:sp>
        <p:nvSpPr>
          <p:cNvPr id="9" name="Shape 7"/>
          <p:cNvSpPr/>
          <p:nvPr/>
        </p:nvSpPr>
        <p:spPr>
          <a:xfrm>
            <a:off x="2514600" y="914400"/>
            <a:ext cx="1828800" cy="777240"/>
          </a:xfrm>
          <a:prstGeom prst="rect">
            <a:avLst/>
          </a:prstGeom>
          <a:solidFill>
            <a:srgbClr val="12121F"/>
          </a:solidFill>
          <a:ln w="6350">
            <a:solidFill>
              <a:srgbClr val="2A2A40"/>
            </a:solidFill>
            <a:prstDash val="solid"/>
          </a:ln>
        </p:spPr>
      </p:sp>
      <p:sp>
        <p:nvSpPr>
          <p:cNvPr id="10" name="Text 8"/>
          <p:cNvSpPr/>
          <p:nvPr/>
        </p:nvSpPr>
        <p:spPr>
          <a:xfrm>
            <a:off x="2514600" y="960120"/>
            <a:ext cx="182880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Arial" pitchFamily="34" charset="0"/>
                <a:ea typeface="Arial" pitchFamily="34" charset="-122"/>
                <a:cs typeface="Arial" pitchFamily="34" charset="-120"/>
              </a:rPr>
              <a:t>BBD 228M</a:t>
            </a:r>
            <a:endParaRPr lang="en-US" sz="2200" dirty="0"/>
          </a:p>
        </p:txBody>
      </p:sp>
      <p:sp>
        <p:nvSpPr>
          <p:cNvPr id="11" name="Text 9"/>
          <p:cNvSpPr/>
          <p:nvPr/>
        </p:nvSpPr>
        <p:spPr>
          <a:xfrm>
            <a:off x="2514600" y="1371600"/>
            <a:ext cx="1828800" cy="274320"/>
          </a:xfrm>
          <a:prstGeom prst="rect">
            <a:avLst/>
          </a:prstGeom>
          <a:noFill/>
          <a:ln/>
        </p:spPr>
        <p:txBody>
          <a:bodyPr wrap="square" lIns="0" tIns="0" rIns="0" bIns="0" rtlCol="0" anchor="ctr"/>
          <a:lstStyle/>
          <a:p>
            <a:pPr algn="ctr" indent="0" marL="0">
              <a:buNone/>
            </a:pPr>
            <a:r>
              <a:rPr lang="en-US" sz="800" dirty="0">
                <a:solidFill>
                  <a:srgbClr val="AAAAAA"/>
                </a:solidFill>
                <a:latin typeface="Arial" pitchFamily="34" charset="0"/>
                <a:ea typeface="Arial" pitchFamily="34" charset="-122"/>
                <a:cs typeface="Arial" pitchFamily="34" charset="-120"/>
              </a:rPr>
              <a:t>Total Dev Cost</a:t>
            </a:r>
            <a:endParaRPr lang="en-US" sz="800" dirty="0"/>
          </a:p>
        </p:txBody>
      </p:sp>
      <p:sp>
        <p:nvSpPr>
          <p:cNvPr id="12" name="Shape 10"/>
          <p:cNvSpPr/>
          <p:nvPr/>
        </p:nvSpPr>
        <p:spPr>
          <a:xfrm>
            <a:off x="4480560" y="914400"/>
            <a:ext cx="1828800" cy="777240"/>
          </a:xfrm>
          <a:prstGeom prst="rect">
            <a:avLst/>
          </a:prstGeom>
          <a:solidFill>
            <a:srgbClr val="12121F"/>
          </a:solidFill>
          <a:ln w="6350">
            <a:solidFill>
              <a:srgbClr val="2A2A40"/>
            </a:solidFill>
            <a:prstDash val="solid"/>
          </a:ln>
        </p:spPr>
      </p:sp>
      <p:sp>
        <p:nvSpPr>
          <p:cNvPr id="13" name="Text 11"/>
          <p:cNvSpPr/>
          <p:nvPr/>
        </p:nvSpPr>
        <p:spPr>
          <a:xfrm>
            <a:off x="4480560" y="960120"/>
            <a:ext cx="182880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Arial" pitchFamily="34" charset="0"/>
                <a:ea typeface="Arial" pitchFamily="34" charset="-122"/>
                <a:cs typeface="Arial" pitchFamily="34" charset="-120"/>
              </a:rPr>
              <a:t>BBD 37M</a:t>
            </a:r>
            <a:endParaRPr lang="en-US" sz="2200" dirty="0"/>
          </a:p>
        </p:txBody>
      </p:sp>
      <p:sp>
        <p:nvSpPr>
          <p:cNvPr id="14" name="Text 12"/>
          <p:cNvSpPr/>
          <p:nvPr/>
        </p:nvSpPr>
        <p:spPr>
          <a:xfrm>
            <a:off x="4480560" y="1371600"/>
            <a:ext cx="1828800" cy="274320"/>
          </a:xfrm>
          <a:prstGeom prst="rect">
            <a:avLst/>
          </a:prstGeom>
          <a:noFill/>
          <a:ln/>
        </p:spPr>
        <p:txBody>
          <a:bodyPr wrap="square" lIns="0" tIns="0" rIns="0" bIns="0" rtlCol="0" anchor="ctr"/>
          <a:lstStyle/>
          <a:p>
            <a:pPr algn="ctr" indent="0" marL="0">
              <a:buNone/>
            </a:pPr>
            <a:r>
              <a:rPr lang="en-US" sz="800" dirty="0">
                <a:solidFill>
                  <a:srgbClr val="AAAAAA"/>
                </a:solidFill>
                <a:latin typeface="Arial" pitchFamily="34" charset="0"/>
                <a:ea typeface="Arial" pitchFamily="34" charset="-122"/>
                <a:cs typeface="Arial" pitchFamily="34" charset="-120"/>
              </a:rPr>
              <a:t>Net Profit</a:t>
            </a:r>
            <a:endParaRPr lang="en-US" sz="800" dirty="0"/>
          </a:p>
        </p:txBody>
      </p:sp>
      <p:sp>
        <p:nvSpPr>
          <p:cNvPr id="15" name="Shape 13"/>
          <p:cNvSpPr/>
          <p:nvPr/>
        </p:nvSpPr>
        <p:spPr>
          <a:xfrm>
            <a:off x="6446520" y="914400"/>
            <a:ext cx="1828800" cy="777240"/>
          </a:xfrm>
          <a:prstGeom prst="rect">
            <a:avLst/>
          </a:prstGeom>
          <a:solidFill>
            <a:srgbClr val="12121F"/>
          </a:solidFill>
          <a:ln w="6350">
            <a:solidFill>
              <a:srgbClr val="2A2A40"/>
            </a:solidFill>
            <a:prstDash val="solid"/>
          </a:ln>
        </p:spPr>
      </p:sp>
      <p:sp>
        <p:nvSpPr>
          <p:cNvPr id="16" name="Text 14"/>
          <p:cNvSpPr/>
          <p:nvPr/>
        </p:nvSpPr>
        <p:spPr>
          <a:xfrm>
            <a:off x="6446520" y="960120"/>
            <a:ext cx="1828800" cy="411480"/>
          </a:xfrm>
          <a:prstGeom prst="rect">
            <a:avLst/>
          </a:prstGeom>
          <a:noFill/>
          <a:ln/>
        </p:spPr>
        <p:txBody>
          <a:bodyPr wrap="square" lIns="0" tIns="0" rIns="0" bIns="0" rtlCol="0" anchor="ctr"/>
          <a:lstStyle/>
          <a:p>
            <a:pPr algn="ctr" indent="0" marL="0">
              <a:buNone/>
            </a:pPr>
            <a:r>
              <a:rPr lang="en-US" sz="2200" b="1" dirty="0">
                <a:solidFill>
                  <a:srgbClr val="C9A84C"/>
                </a:solidFill>
                <a:latin typeface="Arial" pitchFamily="34" charset="0"/>
                <a:ea typeface="Arial" pitchFamily="34" charset="-122"/>
                <a:cs typeface="Arial" pitchFamily="34" charset="-120"/>
              </a:rPr>
              <a:t>18-25%</a:t>
            </a:r>
            <a:endParaRPr lang="en-US" sz="2200" dirty="0"/>
          </a:p>
        </p:txBody>
      </p:sp>
      <p:sp>
        <p:nvSpPr>
          <p:cNvPr id="17" name="Text 15"/>
          <p:cNvSpPr/>
          <p:nvPr/>
        </p:nvSpPr>
        <p:spPr>
          <a:xfrm>
            <a:off x="6446520" y="1371600"/>
            <a:ext cx="1828800" cy="274320"/>
          </a:xfrm>
          <a:prstGeom prst="rect">
            <a:avLst/>
          </a:prstGeom>
          <a:noFill/>
          <a:ln/>
        </p:spPr>
        <p:txBody>
          <a:bodyPr wrap="square" lIns="0" tIns="0" rIns="0" bIns="0" rtlCol="0" anchor="ctr"/>
          <a:lstStyle/>
          <a:p>
            <a:pPr algn="ctr" indent="0" marL="0">
              <a:buNone/>
            </a:pPr>
            <a:r>
              <a:rPr lang="en-US" sz="800" dirty="0">
                <a:solidFill>
                  <a:srgbClr val="AAAAAA"/>
                </a:solidFill>
                <a:latin typeface="Arial" pitchFamily="34" charset="0"/>
                <a:ea typeface="Arial" pitchFamily="34" charset="-122"/>
                <a:cs typeface="Arial" pitchFamily="34" charset="-120"/>
              </a:rPr>
              <a:t>IRR (Unlevered)</a:t>
            </a:r>
            <a:endParaRPr lang="en-US" sz="800" dirty="0"/>
          </a:p>
        </p:txBody>
      </p:sp>
      <p:sp>
        <p:nvSpPr>
          <p:cNvPr id="18" name="Text 16"/>
          <p:cNvSpPr/>
          <p:nvPr/>
        </p:nvSpPr>
        <p:spPr>
          <a:xfrm>
            <a:off x="548640" y="1920240"/>
            <a:ext cx="3840480" cy="228600"/>
          </a:xfrm>
          <a:prstGeom prst="rect">
            <a:avLst/>
          </a:prstGeom>
          <a:noFill/>
          <a:ln/>
        </p:spPr>
        <p:txBody>
          <a:bodyPr wrap="square" lIns="0" tIns="0" rIns="0" bIns="0" rtlCol="0" anchor="ctr"/>
          <a:lstStyle/>
          <a:p>
            <a:pPr indent="0" marL="0">
              <a:buNone/>
            </a:pPr>
            <a:r>
              <a:rPr lang="en-US" sz="1300" b="1" dirty="0">
                <a:solidFill>
                  <a:srgbClr val="C9A84C"/>
                </a:solidFill>
                <a:latin typeface="Arial" pitchFamily="34" charset="0"/>
                <a:ea typeface="Arial" pitchFamily="34" charset="-122"/>
                <a:cs typeface="Arial" pitchFamily="34" charset="-120"/>
              </a:rPr>
              <a:t>Revenue Breakdown</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3931920" cy="914400"/>
        </p:xfrm>
        <a:graphic>
          <a:graphicData uri="http://schemas.openxmlformats.org/drawingml/2006/table">
            <a:tbl>
              <a:tblPr/>
              <a:tblGrid>
                <a:gridCol w="1828800"/>
                <a:gridCol w="1188720"/>
                <a:gridCol w="914400"/>
              </a:tblGrid>
              <a:tr h="29260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Revenue Stream</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BBD (4-Year)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 of GDV</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Residential Sales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247,014,500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93.2%</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Farm / Agri-Estate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6,000,000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2.3%</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X Range Golf Entertainment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5,500,000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2.1%</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Commercial / Amenity / Solar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6,485,500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2.4%</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Total GDV</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265,000,000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20" name="Text 17"/>
          <p:cNvSpPr/>
          <p:nvPr/>
        </p:nvSpPr>
        <p:spPr>
          <a:xfrm>
            <a:off x="4754880" y="1920240"/>
            <a:ext cx="3931920" cy="228600"/>
          </a:xfrm>
          <a:prstGeom prst="rect">
            <a:avLst/>
          </a:prstGeom>
          <a:noFill/>
          <a:ln/>
        </p:spPr>
        <p:txBody>
          <a:bodyPr wrap="square" lIns="0" tIns="0" rIns="0" bIns="0" rtlCol="0" anchor="ctr"/>
          <a:lstStyle/>
          <a:p>
            <a:pPr indent="0" marL="0">
              <a:buNone/>
            </a:pPr>
            <a:r>
              <a:rPr lang="en-US" sz="1300" b="1" dirty="0">
                <a:solidFill>
                  <a:srgbClr val="C9A84C"/>
                </a:solidFill>
                <a:latin typeface="Arial" pitchFamily="34" charset="0"/>
                <a:ea typeface="Arial" pitchFamily="34" charset="-122"/>
                <a:cs typeface="Arial" pitchFamily="34" charset="-120"/>
              </a:rPr>
              <a:t>Cost Structure (BCQS 2025)</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754880" y="2194560"/>
          <a:ext cx="3931920" cy="914400"/>
        </p:xfrm>
        <a:graphic>
          <a:graphicData uri="http://schemas.openxmlformats.org/drawingml/2006/table">
            <a:tbl>
              <a:tblPr/>
              <a:tblGrid>
                <a:gridCol w="1828800"/>
                <a:gridCol w="1188720"/>
                <a:gridCol w="914400"/>
              </a:tblGrid>
              <a:tr h="29260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Cost Category</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BBD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 of Total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Land Acquisition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9,250,000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4.1%</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Construction (355 units)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155,000,000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68.0%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Infrastructure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18,000,000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7.9%</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X Range Facility</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12,000,000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5.3%</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Farm + Soft Costs + Contingency</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33,750,000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14.8%</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Total Dev Cost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228,000,000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9</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SENSITIVITY ANALYSIS</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914400"/>
        </p:xfrm>
        <a:graphic>
          <a:graphicData uri="http://schemas.openxmlformats.org/drawingml/2006/table">
            <a:tbl>
              <a:tblPr/>
              <a:tblGrid>
                <a:gridCol w="1645920"/>
                <a:gridCol w="1645920"/>
                <a:gridCol w="1280160"/>
                <a:gridCol w="3474720"/>
              </a:tblGrid>
              <a:tr h="29260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Variable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Base Case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Downside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Impact on Profit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Construction Cost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BCQS 2025 rates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+15%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Profit reduced by BBD 23M</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Absorption Rate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100-120 units/yr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70 units/yr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Timeline extends 12-18 months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Residential Pricing</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As modelled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-10%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GDV reduced by BBD 24.7M</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Interest Rate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5.0%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7.0%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Additional BBD 4-5M interest cost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Cost Escalation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4.3%/yr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6.0%/yr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Additional BBD 8-12M over 4 years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7" name="Shape 4"/>
          <p:cNvSpPr/>
          <p:nvPr/>
        </p:nvSpPr>
        <p:spPr>
          <a:xfrm>
            <a:off x="548640" y="3108960"/>
            <a:ext cx="8046720" cy="1005840"/>
          </a:xfrm>
          <a:prstGeom prst="rect">
            <a:avLst/>
          </a:prstGeom>
          <a:solidFill>
            <a:srgbClr val="12121F"/>
          </a:solidFill>
          <a:ln w="12700">
            <a:solidFill>
              <a:srgbClr val="C9A84C"/>
            </a:solidFill>
            <a:prstDash val="solid"/>
          </a:ln>
        </p:spPr>
      </p:sp>
      <p:sp>
        <p:nvSpPr>
          <p:cNvPr id="8" name="Text 5"/>
          <p:cNvSpPr/>
          <p:nvPr/>
        </p:nvSpPr>
        <p:spPr>
          <a:xfrm>
            <a:off x="731520" y="3200400"/>
            <a:ext cx="1828800" cy="274320"/>
          </a:xfrm>
          <a:prstGeom prst="rect">
            <a:avLst/>
          </a:prstGeom>
          <a:noFill/>
          <a:ln/>
        </p:spPr>
        <p:txBody>
          <a:bodyPr wrap="square" lIns="0" tIns="0" rIns="0" bIns="0" rtlCol="0" anchor="ctr"/>
          <a:lstStyle/>
          <a:p>
            <a:pPr indent="0" marL="0">
              <a:buNone/>
            </a:pPr>
            <a:r>
              <a:rPr lang="en-US" sz="1100" b="1" dirty="0">
                <a:solidFill>
                  <a:srgbClr val="C9A84C"/>
                </a:solidFill>
                <a:latin typeface="Arial" pitchFamily="34" charset="0"/>
                <a:ea typeface="Arial" pitchFamily="34" charset="-122"/>
                <a:cs typeface="Arial" pitchFamily="34" charset="-120"/>
              </a:rPr>
              <a:t>KEY FINDING</a:t>
            </a:r>
            <a:endParaRPr lang="en-US" sz="1100" dirty="0"/>
          </a:p>
        </p:txBody>
      </p:sp>
      <p:sp>
        <p:nvSpPr>
          <p:cNvPr id="9" name="Text 6"/>
          <p:cNvSpPr/>
          <p:nvPr/>
        </p:nvSpPr>
        <p:spPr>
          <a:xfrm>
            <a:off x="731520" y="3474720"/>
            <a:ext cx="7680960" cy="54864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Project profitability is critically dependent on the developer's claimed 20-30% construction cost savings. At full BCQS 2025 independent benchmark rates without savings, the project produces a materially compressed margin. Independent cost verification by a third-party quantity surveyor is the single most important due diligence item.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10</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SOURCE AND USE OF FUNDS</a:t>
            </a:r>
            <a:endParaRPr lang="en-US" sz="2600" dirty="0"/>
          </a:p>
        </p:txBody>
      </p:sp>
      <p:sp>
        <p:nvSpPr>
          <p:cNvPr id="6" name="Text 4"/>
          <p:cNvSpPr/>
          <p:nvPr/>
        </p:nvSpPr>
        <p:spPr>
          <a:xfrm>
            <a:off x="548640" y="914400"/>
            <a:ext cx="3840480" cy="27432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Sources of Capital</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2011680"/>
                <a:gridCol w="1828800"/>
                <a:gridCol w="1645920"/>
                <a:gridCol w="1097280"/>
              </a:tblGrid>
              <a:tr h="24688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Source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BBD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USD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 of Total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4688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Senior Debt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114,000,000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57,000,000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50%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4688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Developer Equity (Land)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25,000,000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12,500,000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11%</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4688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Pre-Sales / Cash Flow</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89,000,000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44,500,000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39%</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4688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Total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228,000,000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114,000,000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8" name="Text 5"/>
          <p:cNvSpPr/>
          <p:nvPr/>
        </p:nvSpPr>
        <p:spPr>
          <a:xfrm>
            <a:off x="548640" y="2560320"/>
            <a:ext cx="3840480" cy="22860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Uses of Capital</a:t>
            </a:r>
            <a:endParaRPr lang="en-US" sz="14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48640" y="2834640"/>
          <a:ext cx="8046720" cy="914400"/>
        </p:xfrm>
        <a:graphic>
          <a:graphicData uri="http://schemas.openxmlformats.org/drawingml/2006/table">
            <a:tbl>
              <a:tblPr/>
              <a:tblGrid>
                <a:gridCol w="3200400"/>
                <a:gridCol w="2286000"/>
                <a:gridCol w="1097280"/>
              </a:tblGrid>
              <a:tr h="24688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Use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BBD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 of Total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4688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Land Acquisition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9,250,000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4.1%</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4688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Hard Costs (Construction + Infra)</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173,000,000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75.9%</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4688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X Range + Farm</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15,500,000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6.8%</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4688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Soft Costs (Design, Legal, Mktg)</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15,000,000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6.6%</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4688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Contingency (10%)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15,250,000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6.7%</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4688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Total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228,000,000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100%</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10" name="Text 6"/>
          <p:cNvSpPr/>
          <p:nvPr/>
        </p:nvSpPr>
        <p:spPr>
          <a:xfrm>
            <a:off x="548640" y="4590288"/>
            <a:ext cx="8046720" cy="137160"/>
          </a:xfrm>
          <a:prstGeom prst="rect">
            <a:avLst/>
          </a:prstGeom>
          <a:noFill/>
          <a:ln/>
        </p:spPr>
        <p:txBody>
          <a:bodyPr wrap="square" lIns="0" tIns="0" rIns="0" bIns="0" rtlCol="0" anchor="ctr"/>
          <a:lstStyle/>
          <a:p>
            <a:pPr indent="0" marL="0">
              <a:buNone/>
            </a:pPr>
            <a:r>
              <a:rPr lang="en-US" sz="800" i="1" dirty="0">
                <a:solidFill>
                  <a:srgbClr val="888888"/>
                </a:solidFill>
                <a:latin typeface="Arial" pitchFamily="34" charset="0"/>
                <a:ea typeface="Arial" pitchFamily="34" charset="-122"/>
                <a:cs typeface="Arial" pitchFamily="34" charset="-120"/>
              </a:rPr>
              <a:t>Financing terms: 5.0% stated rate (below market 6-9%); 4-year tenor; rate and lender to be confirmed.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11</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INCENTIVES AND STRUCTURE</a:t>
            </a:r>
            <a:endParaRPr lang="en-US" sz="2600" dirty="0"/>
          </a:p>
        </p:txBody>
      </p:sp>
      <p:sp>
        <p:nvSpPr>
          <p:cNvPr id="6" name="Text 4"/>
          <p:cNvSpPr/>
          <p:nvPr/>
        </p:nvSpPr>
        <p:spPr>
          <a:xfrm>
            <a:off x="548640" y="914400"/>
            <a:ext cx="3840480" cy="22860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Barbados Tax Regime</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3840480" cy="914400"/>
        </p:xfrm>
        <a:graphic>
          <a:graphicData uri="http://schemas.openxmlformats.org/drawingml/2006/table">
            <a:tbl>
              <a:tblPr/>
              <a:tblGrid>
                <a:gridCol w="2743200"/>
                <a:gridCol w="1097280"/>
              </a:tblGrid>
              <a:tr h="29260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Tax</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Rate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Corporate Income Tax</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9%</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Property Transfer Tax</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2.5%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Stamp Duty</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29260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VAT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r" indent="0" marL="0">
                        <a:buNone/>
                      </a:pPr>
                      <a:r>
                        <a:rPr lang="en-US" sz="1000" dirty="0">
                          <a:solidFill>
                            <a:srgbClr val="FFFFFF"/>
                          </a:solidFill>
                          <a:latin typeface="Arial" pitchFamily="34" charset="0"/>
                          <a:ea typeface="Arial" pitchFamily="34" charset="-122"/>
                          <a:cs typeface="Arial" pitchFamily="34" charset="-120"/>
                        </a:rPr>
                        <a:t>17.5%</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8" name="Text 5"/>
          <p:cNvSpPr/>
          <p:nvPr/>
        </p:nvSpPr>
        <p:spPr>
          <a:xfrm>
            <a:off x="4846320" y="914400"/>
            <a:ext cx="3840480" cy="22860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Key Incentive Regimes</a:t>
            </a:r>
            <a:endParaRPr lang="en-US" sz="1400" dirty="0"/>
          </a:p>
        </p:txBody>
      </p:sp>
      <p:sp>
        <p:nvSpPr>
          <p:cNvPr id="9" name="Text 6"/>
          <p:cNvSpPr/>
          <p:nvPr/>
        </p:nvSpPr>
        <p:spPr>
          <a:xfrm>
            <a:off x="4846320" y="1234440"/>
            <a:ext cx="3840480" cy="1463040"/>
          </a:xfrm>
          <a:prstGeom prst="rect">
            <a:avLst/>
          </a:prstGeom>
          <a:noFill/>
          <a:ln/>
        </p:spPr>
        <p:txBody>
          <a:bodyPr wrap="square" rtlCol="0" anchor="t"/>
          <a:lstStyle/>
          <a:p>
            <a:pPr marL="342900" indent="-342900">
              <a:spcAft>
                <a:spcPts val="500"/>
              </a:spcAft>
              <a:buSzPct val="100000"/>
              <a:buChar char="•"/>
            </a:pPr>
            <a:r>
              <a:rPr lang="en-US" sz="1000" dirty="0">
                <a:solidFill>
                  <a:srgbClr val="FFFFFF"/>
                </a:solidFill>
                <a:latin typeface="Arial" pitchFamily="34" charset="0"/>
                <a:ea typeface="Arial" pitchFamily="34" charset="-122"/>
                <a:cs typeface="Arial" pitchFamily="34" charset="-120"/>
              </a:rPr>
              <a:t>Tourism Development Act (TDA): Duty-free materials, 15-year capital write-off, income tax concessions</a:t>
            </a:r>
            <a:endParaRPr lang="en-US" sz="1000" dirty="0"/>
          </a:p>
          <a:p>
            <a:pPr marL="342900" indent="-342900">
              <a:spcAft>
                <a:spcPts val="500"/>
              </a:spcAft>
              <a:buSzPct val="100000"/>
              <a:buChar char="•"/>
            </a:pPr>
            <a:r>
              <a:rPr lang="en-US" sz="1000" dirty="0">
                <a:solidFill>
                  <a:srgbClr val="FFFFFF"/>
                </a:solidFill>
                <a:latin typeface="Arial" pitchFamily="34" charset="0"/>
                <a:ea typeface="Arial" pitchFamily="34" charset="-122"/>
                <a:cs typeface="Arial" pitchFamily="34" charset="-120"/>
              </a:rPr>
              <a:t>Special Development Areas Act (SDA): Import duty/VAT exemption on materials, property tax relief, transfer tax exemption</a:t>
            </a:r>
            <a:endParaRPr lang="en-US" sz="1000" dirty="0"/>
          </a:p>
          <a:p>
            <a:pPr marL="342900" indent="-342900">
              <a:spcAft>
                <a:spcPts val="500"/>
              </a:spcAft>
              <a:buSzPct val="100000"/>
              <a:buChar char="•"/>
            </a:pPr>
            <a:r>
              <a:rPr lang="en-US" sz="1000" b="1" dirty="0">
                <a:solidFill>
                  <a:srgbClr val="C9A84C"/>
                </a:solidFill>
                <a:latin typeface="Arial" pitchFamily="34" charset="0"/>
                <a:ea typeface="Arial" pitchFamily="34" charset="-122"/>
                <a:cs typeface="Arial" pitchFamily="34" charset="-120"/>
              </a:rPr>
              <a:t>TDA and SDA cannot be combined; one must be elected</a:t>
            </a:r>
            <a:endParaRPr lang="en-US" sz="1000" dirty="0"/>
          </a:p>
          <a:p>
            <a:pPr marL="342900" indent="-342900">
              <a:spcAft>
                <a:spcPts val="500"/>
              </a:spcAft>
              <a:buSzPct val="100000"/>
              <a:buChar char="•"/>
            </a:pPr>
            <a:r>
              <a:rPr lang="en-US" sz="1000" b="1" dirty="0">
                <a:solidFill>
                  <a:srgbClr val="C9A84C"/>
                </a:solidFill>
                <a:latin typeface="Arial" pitchFamily="34" charset="0"/>
                <a:ea typeface="Arial" pitchFamily="34" charset="-122"/>
                <a:cs typeface="Arial" pitchFamily="34" charset="-120"/>
              </a:rPr>
              <a:t>SDA boundary confirmation is a critical open item</a:t>
            </a:r>
            <a:endParaRPr lang="en-US" sz="1000" dirty="0"/>
          </a:p>
        </p:txBody>
      </p:sp>
      <p:sp>
        <p:nvSpPr>
          <p:cNvPr id="10" name="Text 7"/>
          <p:cNvSpPr/>
          <p:nvPr/>
        </p:nvSpPr>
        <p:spPr>
          <a:xfrm>
            <a:off x="548640" y="3108960"/>
            <a:ext cx="7315200" cy="27432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Recommended Legal Structure</a:t>
            </a:r>
            <a:endParaRPr lang="en-US" sz="1400" dirty="0"/>
          </a:p>
        </p:txBody>
      </p:sp>
      <p:sp>
        <p:nvSpPr>
          <p:cNvPr id="11" name="Text 8"/>
          <p:cNvSpPr/>
          <p:nvPr/>
        </p:nvSpPr>
        <p:spPr>
          <a:xfrm>
            <a:off x="548640" y="3429000"/>
            <a:ext cx="8046720" cy="1097280"/>
          </a:xfrm>
          <a:prstGeom prst="rect">
            <a:avLst/>
          </a:prstGeom>
          <a:noFill/>
          <a:ln/>
        </p:spPr>
        <p:txBody>
          <a:bodyPr wrap="square" rtlCol="0" anchor="t"/>
          <a:lstStyle/>
          <a:p>
            <a:pPr marL="342900" indent="-342900">
              <a:spcAft>
                <a:spcPts val="400"/>
              </a:spcAft>
              <a:buSzPct val="100000"/>
              <a:buChar char="•"/>
            </a:pPr>
            <a:r>
              <a:rPr lang="en-US" sz="1100" dirty="0">
                <a:solidFill>
                  <a:srgbClr val="FFFFFF"/>
                </a:solidFill>
                <a:latin typeface="Arial" pitchFamily="34" charset="0"/>
                <a:ea typeface="Arial" pitchFamily="34" charset="-122"/>
                <a:cs typeface="Arial" pitchFamily="34" charset="-120"/>
              </a:rPr>
              <a:t>Barbados private limited company (SPV) as development vehicle</a:t>
            </a:r>
            <a:endParaRPr lang="en-US" sz="1100" dirty="0"/>
          </a:p>
          <a:p>
            <a:pPr marL="342900" indent="-342900">
              <a:spcAft>
                <a:spcPts val="400"/>
              </a:spcAft>
              <a:buSzPct val="100000"/>
              <a:buChar char="•"/>
            </a:pPr>
            <a:r>
              <a:rPr lang="en-US" sz="1100" dirty="0">
                <a:solidFill>
                  <a:srgbClr val="FFFFFF"/>
                </a:solidFill>
                <a:latin typeface="Arial" pitchFamily="34" charset="0"/>
                <a:ea typeface="Arial" pitchFamily="34" charset="-122"/>
                <a:cs typeface="Arial" pitchFamily="34" charset="-120"/>
              </a:rPr>
              <a:t>Class A shares (developer, operational control) / Class B shares (external equity, preferred returns)</a:t>
            </a:r>
            <a:endParaRPr lang="en-US" sz="1100" dirty="0"/>
          </a:p>
          <a:p>
            <a:pPr marL="342900" indent="-342900">
              <a:spcAft>
                <a:spcPts val="400"/>
              </a:spcAft>
              <a:buSzPct val="100000"/>
              <a:buChar char="•"/>
            </a:pPr>
            <a:r>
              <a:rPr lang="en-US" sz="1100" dirty="0">
                <a:solidFill>
                  <a:srgbClr val="FFFFFF"/>
                </a:solidFill>
                <a:latin typeface="Arial" pitchFamily="34" charset="0"/>
                <a:ea typeface="Arial" pitchFamily="34" charset="-122"/>
                <a:cs typeface="Arial" pitchFamily="34" charset="-120"/>
              </a:rPr>
              <a:t>Land contributed at BBD 25M (USD 12.5M) valuation; to be independently verified</a:t>
            </a:r>
            <a:endParaRPr lang="en-US" sz="1100" dirty="0"/>
          </a:p>
          <a:p>
            <a:pPr marL="342900" indent="-342900">
              <a:spcAft>
                <a:spcPts val="400"/>
              </a:spcAft>
              <a:buSzPct val="100000"/>
              <a:buChar char="•"/>
            </a:pPr>
            <a:r>
              <a:rPr lang="en-US" sz="1100" dirty="0">
                <a:solidFill>
                  <a:srgbClr val="FFFFFF"/>
                </a:solidFill>
                <a:latin typeface="Arial" pitchFamily="34" charset="0"/>
                <a:ea typeface="Arial" pitchFamily="34" charset="-122"/>
                <a:cs typeface="Arial" pitchFamily="34" charset="-120"/>
              </a:rPr>
              <a:t>Separate operating entities for farm and X Range to ring-fence operational risk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12</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RISK AND MITIGATIONS</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914400"/>
          <a:ext cx="8046720" cy="914400"/>
        </p:xfrm>
        <a:graphic>
          <a:graphicData uri="http://schemas.openxmlformats.org/drawingml/2006/table">
            <a:tbl>
              <a:tblPr/>
              <a:tblGrid>
                <a:gridCol w="2560320"/>
                <a:gridCol w="914400"/>
                <a:gridCol w="4572000"/>
              </a:tblGrid>
              <a:tr h="384048">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Risk</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Rating</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Mitigation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38404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Agricultural land conversion not obtained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CRITICAL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Pre-application meeting with TCPD and Ministry of Agriculture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8404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Site zoning unconfirmed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CRITICAL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Commission independent zoning and SDA boundary verification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8404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Construction cost savings (20-30%) unverified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Commission third-party QS estimate at BCQS rates within 4 weeks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8404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EIA not commenced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Engage environmental consultant; begin baseline studies within 6 weeks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8404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X Range operator terms undocumented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Obtain brand specs, operator agreement, capex estimate from X Range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8404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Upper-tier demand (USD 500K+) unvalidated</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Commission independent luxury demand study (8 weeks)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8404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Interest rate below market (5% vs 6-9%)</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Confirm lender, rate basis, and terms; stress-test at 7%</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84048">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Hurricane and climate risk</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MEDIUM</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Design to Barbados National Building Code; comprehensive insurance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457200" y="4709160"/>
            <a:ext cx="5486400" cy="32004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Mount Brevitor Estate Development  |  CONFIDENTIAL</a:t>
            </a:r>
            <a:endParaRPr lang="en-US" sz="800" dirty="0"/>
          </a:p>
        </p:txBody>
      </p:sp>
      <p:sp>
        <p:nvSpPr>
          <p:cNvPr id="3" name="Shape 1"/>
          <p:cNvSpPr/>
          <p:nvPr/>
        </p:nvSpPr>
        <p:spPr>
          <a:xfrm>
            <a:off x="457200" y="4663440"/>
            <a:ext cx="8229600" cy="0"/>
          </a:xfrm>
          <a:prstGeom prst="line">
            <a:avLst/>
          </a:prstGeom>
          <a:noFill/>
          <a:ln w="6350">
            <a:solidFill>
              <a:srgbClr val="C9A84C"/>
            </a:solidFill>
            <a:prstDash val="solid"/>
          </a:ln>
        </p:spPr>
      </p:sp>
      <p:sp>
        <p:nvSpPr>
          <p:cNvPr id="4" name="Text 2"/>
          <p:cNvSpPr/>
          <p:nvPr/>
        </p:nvSpPr>
        <p:spPr>
          <a:xfrm>
            <a:off x="8412480" y="4709160"/>
            <a:ext cx="548640" cy="320040"/>
          </a:xfrm>
          <a:prstGeom prst="rect">
            <a:avLst/>
          </a:prstGeom>
          <a:noFill/>
          <a:ln/>
        </p:spPr>
        <p:txBody>
          <a:bodyPr wrap="square" rtlCol="0" anchor="ctr"/>
          <a:lstStyle/>
          <a:p>
            <a:pPr algn="r" indent="0" marL="0">
              <a:buNone/>
            </a:pPr>
            <a:r>
              <a:rPr lang="en-US" sz="900" dirty="0">
                <a:solidFill>
                  <a:srgbClr val="888888"/>
                </a:solidFill>
                <a:latin typeface="Arial" pitchFamily="34" charset="0"/>
                <a:ea typeface="Arial" pitchFamily="34" charset="-122"/>
                <a:cs typeface="Arial" pitchFamily="34" charset="-120"/>
              </a:rPr>
              <a:t>13</a:t>
            </a:r>
            <a:endParaRPr lang="en-US" sz="900" dirty="0"/>
          </a:p>
        </p:txBody>
      </p:sp>
      <p:sp>
        <p:nvSpPr>
          <p:cNvPr id="5" name="Text 3"/>
          <p:cNvSpPr/>
          <p:nvPr/>
        </p:nvSpPr>
        <p:spPr>
          <a:xfrm>
            <a:off x="548640" y="274320"/>
            <a:ext cx="8046720" cy="502920"/>
          </a:xfrm>
          <a:prstGeom prst="rect">
            <a:avLst/>
          </a:prstGeom>
          <a:noFill/>
          <a:ln/>
        </p:spPr>
        <p:txBody>
          <a:bodyPr wrap="square" lIns="0" tIns="0" rIns="0" bIns="0" rtlCol="0" anchor="ctr"/>
          <a:lstStyle/>
          <a:p>
            <a:pPr indent="0" marL="0">
              <a:buNone/>
            </a:pPr>
            <a:r>
              <a:rPr lang="en-US" sz="2600" b="1" dirty="0">
                <a:solidFill>
                  <a:srgbClr val="C9A84C"/>
                </a:solidFill>
                <a:latin typeface="Arial" pitchFamily="34" charset="0"/>
                <a:ea typeface="Arial" pitchFamily="34" charset="-122"/>
                <a:cs typeface="Arial" pitchFamily="34" charset="-120"/>
              </a:rPr>
              <a:t>NEXT STEPS</a:t>
            </a:r>
            <a:endParaRPr lang="en-US" sz="2600" dirty="0"/>
          </a:p>
        </p:txBody>
      </p:sp>
      <p:sp>
        <p:nvSpPr>
          <p:cNvPr id="6" name="Text 4"/>
          <p:cNvSpPr/>
          <p:nvPr/>
        </p:nvSpPr>
        <p:spPr>
          <a:xfrm>
            <a:off x="548640" y="914400"/>
            <a:ext cx="7315200" cy="274320"/>
          </a:xfrm>
          <a:prstGeom prst="rect">
            <a:avLst/>
          </a:prstGeom>
          <a:noFill/>
          <a:ln/>
        </p:spPr>
        <p:txBody>
          <a:bodyPr wrap="square" lIns="0" tIns="0" rIns="0" bIns="0" rtlCol="0" anchor="ctr"/>
          <a:lstStyle/>
          <a:p>
            <a:pPr indent="0" marL="0">
              <a:buNone/>
            </a:pPr>
            <a:r>
              <a:rPr lang="en-US" sz="1400" b="1" dirty="0">
                <a:solidFill>
                  <a:srgbClr val="C9A84C"/>
                </a:solidFill>
                <a:latin typeface="Arial" pitchFamily="34" charset="0"/>
                <a:ea typeface="Arial" pitchFamily="34" charset="-122"/>
                <a:cs typeface="Arial" pitchFamily="34" charset="-120"/>
              </a:rPr>
              <a:t>Critical Open Items (Must Resolve Before Commitment)</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4114800"/>
                <a:gridCol w="2103120"/>
                <a:gridCol w="1097280"/>
              </a:tblGrid>
              <a:tr h="347472">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Action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Owner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c>
                  <a:txBody>
                    <a:bodyPr/>
                    <a:lstStyle/>
                    <a:p>
                      <a:pPr algn="l" indent="0" marL="0">
                        <a:buNone/>
                      </a:pPr>
                      <a:r>
                        <a:rPr lang="en-US" sz="1000" b="1" dirty="0">
                          <a:solidFill>
                            <a:srgbClr val="12121F"/>
                          </a:solidFill>
                          <a:latin typeface="Arial" pitchFamily="34" charset="0"/>
                          <a:ea typeface="Arial" pitchFamily="34" charset="-122"/>
                          <a:cs typeface="Arial" pitchFamily="34" charset="-120"/>
                        </a:rPr>
                        <a:t>Timeline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C9A84C"/>
                    </a:solidFill>
                  </a:tcPr>
                </a:tc>
              </a:tr>
              <a:tr h="347472">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Pre-application meeting: TCPD and Ministry of Agriculture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Developer / Planning</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Immediate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47472">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Parish zoning confirmation and SDA boundary check</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Developer / Legal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Immediate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47472">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Independent QS cost verification at BCQS 2025 rates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Investor / QS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4 weeks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47472">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X Range operator agreement, capex, and format documentation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Developer / X Range</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4 weeks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47472">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EIA scoping and baseline studies commencement</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Developer / Environmental</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6 weeks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47472">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Independent luxury market demand study (USD 500K+)</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Investor / Market Research</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8 weeks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47472">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SPV entity formation and legal structure finalisation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Legal / Developer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4 weeks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r h="347472">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Lending partner and interest rate confirmation</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Developer / Lender</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c>
                  <a:txBody>
                    <a:bodyPr/>
                    <a:lstStyle/>
                    <a:p>
                      <a:pPr algn="l" indent="0" marL="0">
                        <a:buNone/>
                      </a:pPr>
                      <a:r>
                        <a:rPr lang="en-US" sz="1000" dirty="0">
                          <a:solidFill>
                            <a:srgbClr val="FFFFFF"/>
                          </a:solidFill>
                          <a:latin typeface="Arial" pitchFamily="34" charset="0"/>
                          <a:ea typeface="Arial" pitchFamily="34" charset="-122"/>
                          <a:cs typeface="Arial" pitchFamily="34" charset="-120"/>
                        </a:rPr>
                        <a:t>4 weeks</a:t>
                      </a:r>
                      <a:endParaRPr lang="en-US" sz="1000" dirty="0">
                        <a:latin typeface="Arial" charset="0"/>
                        <a:ea typeface="Arial" charset="0"/>
                        <a:cs typeface="Arial" charset="0"/>
                      </a:endParaRPr>
                    </a:p>
                  </a:txBody>
                  <a:tcPr marL="50800" marR="50800" marT="25400" marB="25400">
                    <a:lnL w="6350" cap="flat" cmpd="sng" algn="ctr">
                      <a:solidFill>
                        <a:srgbClr val="2A2A40"/>
                      </a:solidFill>
                      <a:prstDash val="solid"/>
                      <a:round/>
                      <a:headEnd type="none" w="med" len="med"/>
                      <a:tailEnd type="none" w="med" len="med"/>
                    </a:lnL>
                    <a:lnR w="6350" cap="flat" cmpd="sng" algn="ctr">
                      <a:solidFill>
                        <a:srgbClr val="2A2A40"/>
                      </a:solidFill>
                      <a:prstDash val="solid"/>
                      <a:round/>
                      <a:headEnd type="none" w="med" len="med"/>
                      <a:tailEnd type="none" w="med" len="med"/>
                    </a:lnR>
                    <a:lnT w="6350" cap="flat" cmpd="sng" algn="ctr">
                      <a:solidFill>
                        <a:srgbClr val="2A2A40"/>
                      </a:solidFill>
                      <a:prstDash val="solid"/>
                      <a:round/>
                      <a:headEnd type="none" w="med" len="med"/>
                      <a:tailEnd type="none" w="med" len="med"/>
                    </a:lnT>
                    <a:lnB w="6350" cap="flat" cmpd="sng" algn="ctr">
                      <a:solidFill>
                        <a:srgbClr val="2A2A40"/>
                      </a:solidFill>
                      <a:prstDash val="solid"/>
                      <a:round/>
                      <a:headEnd type="none" w="med" len="med"/>
                      <a:tailEnd type="none" w="med" len="med"/>
                    </a:lnB>
                    <a:solidFill>
                      <a:srgbClr val="12121F"/>
                    </a:solidFill>
                  </a:tcPr>
                </a:tc>
              </a:tr>
            </a:tbl>
          </a:graphicData>
        </a:graphic>
      </p:graphicFrame>
      <p:sp>
        <p:nvSpPr>
          <p:cNvPr id="8" name="Text 5"/>
          <p:cNvSpPr/>
          <p:nvPr/>
        </p:nvSpPr>
        <p:spPr>
          <a:xfrm>
            <a:off x="548640" y="4251960"/>
            <a:ext cx="8046720" cy="320040"/>
          </a:xfrm>
          <a:prstGeom prst="rect">
            <a:avLst/>
          </a:prstGeom>
          <a:noFill/>
          <a:ln/>
        </p:spPr>
        <p:txBody>
          <a:bodyPr wrap="square" lIns="0" tIns="0" rIns="0" bIns="0" rtlCol="0" anchor="ctr"/>
          <a:lstStyle/>
          <a:p>
            <a:pPr indent="0" marL="0">
              <a:buNone/>
            </a:pPr>
            <a:r>
              <a:rPr lang="en-US" sz="1000" i="1" dirty="0">
                <a:solidFill>
                  <a:srgbClr val="C9A84C"/>
                </a:solidFill>
                <a:latin typeface="Arial" pitchFamily="34" charset="0"/>
                <a:ea typeface="Arial" pitchFamily="34" charset="-122"/>
                <a:cs typeface="Arial" pitchFamily="34" charset="-120"/>
              </a:rPr>
              <a:t>The two immediate-priority items are the pre-application planning meeting and the independent cost verification. Both must be completed before any capital commitment.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2286000" y="1645920"/>
            <a:ext cx="4572000" cy="0"/>
          </a:xfrm>
          <a:prstGeom prst="line">
            <a:avLst/>
          </a:prstGeom>
          <a:noFill/>
          <a:ln w="19050">
            <a:solidFill>
              <a:srgbClr val="C9A84C"/>
            </a:solidFill>
            <a:prstDash val="solid"/>
          </a:ln>
        </p:spPr>
      </p:sp>
      <p:sp>
        <p:nvSpPr>
          <p:cNvPr id="3" name="Text 1"/>
          <p:cNvSpPr/>
          <p:nvPr/>
        </p:nvSpPr>
        <p:spPr>
          <a:xfrm>
            <a:off x="914400" y="1828800"/>
            <a:ext cx="7315200" cy="1097280"/>
          </a:xfrm>
          <a:prstGeom prst="rect">
            <a:avLst/>
          </a:prstGeom>
          <a:noFill/>
          <a:ln/>
        </p:spPr>
        <p:txBody>
          <a:bodyPr wrap="square" lIns="0" tIns="0" rIns="0" bIns="0" rtlCol="0" anchor="ctr"/>
          <a:lstStyle/>
          <a:p>
            <a:pPr algn="ctr" indent="0" marL="0">
              <a:buNone/>
            </a:pPr>
            <a:r>
              <a:rPr lang="en-US" sz="3000" b="1" dirty="0">
                <a:solidFill>
                  <a:srgbClr val="C9A84C"/>
                </a:solidFill>
                <a:latin typeface="Arial" pitchFamily="34" charset="0"/>
                <a:ea typeface="Arial" pitchFamily="34" charset="-122"/>
                <a:cs typeface="Arial" pitchFamily="34" charset="-120"/>
              </a:rPr>
              <a:t>MOUNT BREVITOR</a:t>
            </a:r>
            <a:endParaRPr lang="en-US" sz="3000" dirty="0"/>
          </a:p>
          <a:p>
            <a:pPr algn="ctr" indent="0" marL="0">
              <a:buNone/>
            </a:pPr>
            <a:r>
              <a:rPr lang="en-US" sz="3000" b="1" dirty="0">
                <a:solidFill>
                  <a:srgbClr val="C9A84C"/>
                </a:solidFill>
                <a:latin typeface="Arial" pitchFamily="34" charset="0"/>
                <a:ea typeface="Arial" pitchFamily="34" charset="-122"/>
                <a:cs typeface="Arial" pitchFamily="34" charset="-120"/>
              </a:rPr>
              <a:t>ESTATE DEVELOPMENT</a:t>
            </a:r>
            <a:endParaRPr lang="en-US" sz="3000" dirty="0"/>
          </a:p>
        </p:txBody>
      </p:sp>
      <p:sp>
        <p:nvSpPr>
          <p:cNvPr id="4" name="Shape 2"/>
          <p:cNvSpPr/>
          <p:nvPr/>
        </p:nvSpPr>
        <p:spPr>
          <a:xfrm>
            <a:off x="2286000" y="3017520"/>
            <a:ext cx="4572000" cy="0"/>
          </a:xfrm>
          <a:prstGeom prst="line">
            <a:avLst/>
          </a:prstGeom>
          <a:noFill/>
          <a:ln w="19050">
            <a:solidFill>
              <a:srgbClr val="C9A84C"/>
            </a:solidFill>
            <a:prstDash val="solid"/>
          </a:ln>
        </p:spPr>
      </p:sp>
      <p:sp>
        <p:nvSpPr>
          <p:cNvPr id="5" name="Text 3"/>
          <p:cNvSpPr/>
          <p:nvPr/>
        </p:nvSpPr>
        <p:spPr>
          <a:xfrm>
            <a:off x="914400" y="3200400"/>
            <a:ext cx="7315200" cy="32004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Infinity Developers Inc (Ltd, Barbados)</a:t>
            </a:r>
            <a:endParaRPr lang="en-US" sz="1200" dirty="0"/>
          </a:p>
        </p:txBody>
      </p:sp>
      <p:sp>
        <p:nvSpPr>
          <p:cNvPr id="6" name="Text 4"/>
          <p:cNvSpPr/>
          <p:nvPr/>
        </p:nvSpPr>
        <p:spPr>
          <a:xfrm>
            <a:off x="1097280" y="3749040"/>
            <a:ext cx="6949440" cy="914400"/>
          </a:xfrm>
          <a:prstGeom prst="rect">
            <a:avLst/>
          </a:prstGeom>
          <a:noFill/>
          <a:ln/>
        </p:spPr>
        <p:txBody>
          <a:bodyPr wrap="square" rtlCol="0" anchor="ctr"/>
          <a:lstStyle/>
          <a:p>
            <a:pPr algn="ctr" indent="0" marL="0">
              <a:buNone/>
            </a:pPr>
            <a:r>
              <a:rPr lang="en-US" sz="800" dirty="0">
                <a:solidFill>
                  <a:srgbClr val="888888"/>
                </a:solidFill>
                <a:latin typeface="Arial" pitchFamily="34" charset="0"/>
                <a:ea typeface="Arial" pitchFamily="34" charset="-122"/>
                <a:cs typeface="Arial" pitchFamily="34" charset="-120"/>
              </a:rPr>
              <a:t>This document is confidential and prepared solely for prospective investors and development partners. Financial projections are modelled estimates based on stated assumptions and publicly available market data. They are not guarantees. The base case uses BCQS 2025 independent construction cost benchmarks. The developer's claimed 20-30% construction cost savings from proprietary technology are not independently verified and are excluded from the base case presented herein. All figures in BBD unless otherwise stated. BBD:USD peg = 2:1.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Mount Brevitor Estate Development — Investor Deck</dc:title>
  <dc:subject>PptxGenJS Presentation</dc:subject>
  <dc:creator>Infinity Developers Inc</dc:creator>
  <cp:lastModifiedBy>Infinity Developers Inc</cp:lastModifiedBy>
  <cp:revision>1</cp:revision>
  <dcterms:created xsi:type="dcterms:W3CDTF">2026-03-05T11:56:23Z</dcterms:created>
  <dcterms:modified xsi:type="dcterms:W3CDTF">2026-03-05T11:56:23Z</dcterms:modified>
</cp:coreProperties>
</file>